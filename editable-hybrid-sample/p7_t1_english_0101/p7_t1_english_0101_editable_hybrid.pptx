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365760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1. 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"/>
            <a:ext cx="3977639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713232"/>
            <a:ext cx="1136599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832104"/>
            <a:ext cx="1088136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2300" b="1">
                <a:solidFill>
                  <a:srgbClr val="111827"/>
                </a:solidFill>
                <a:latin typeface="Arial"/>
              </a:rPr>
              <a:t>1.1 School Holidays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81328"/>
            <a:ext cx="603504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27632"/>
            <a:ext cx="5760720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4919472"/>
            <a:ext cx="54406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rial"/>
              </a:rPr>
              <a:t>generated visual insert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536192"/>
            <a:ext cx="4800600" cy="9875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682495"/>
            <a:ext cx="4343400" cy="6949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rial"/>
              </a:rPr>
              <a:t>Where is Nakato going?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788920"/>
            <a:ext cx="152704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898648"/>
            <a:ext cx="1344168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Think alone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49056" y="2788920"/>
            <a:ext cx="152704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2898648"/>
            <a:ext cx="1344168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Pair talk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85832" y="2788920"/>
            <a:ext cx="152704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77272" y="2898648"/>
            <a:ext cx="1344168" cy="6217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Share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886200"/>
            <a:ext cx="1527048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2" y="4050791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D4ED8"/>
                </a:solidFill>
                <a:latin typeface="Arial"/>
              </a:rPr>
              <a:t>Feature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76872" y="4636007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49056" y="3886200"/>
            <a:ext cx="1527048" cy="1005840"/>
          </a:xfrm>
          <a:prstGeom prst="roundRect">
            <a:avLst/>
          </a:prstGeom>
          <a:solidFill>
            <a:srgbClr val="FFF7E0"/>
          </a:solidFill>
          <a:ln w="1143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4050791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D4ED8"/>
                </a:solidFill>
                <a:latin typeface="Arial"/>
              </a:rPr>
              <a:t>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13648" y="4636007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85832" y="3886200"/>
            <a:ext cx="1527048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58984" y="4050791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D4ED8"/>
                </a:solidFill>
                <a:latin typeface="Arial"/>
              </a:rPr>
              <a:t>Explain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50424" y="4636007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6327648"/>
            <a:ext cx="11365992" cy="310896"/>
          </a:xfrm>
          <a:prstGeom prst="rect">
            <a:avLst/>
          </a:prstGeom>
          <a:solidFill>
            <a:srgbClr val="E5E7EB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11064240" cy="1463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rial"/>
              </a:rPr>
              <a:t>Teacher note: ask for first ideas; do not give the answer yet.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365760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2.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"/>
            <a:ext cx="3977639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713232"/>
            <a:ext cx="1136599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832104"/>
            <a:ext cx="1088136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2300" b="1">
                <a:solidFill>
                  <a:srgbClr val="111827"/>
                </a:solidFill>
                <a:latin typeface="Arial"/>
              </a:rPr>
              <a:t>Today's 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81328"/>
            <a:ext cx="603504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27632"/>
            <a:ext cx="5760720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4919472"/>
            <a:ext cx="54406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rial"/>
              </a:rPr>
              <a:t>generated visual insert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536192"/>
            <a:ext cx="4800600" cy="749808"/>
          </a:xfrm>
          <a:prstGeom prst="roundRect">
            <a:avLst/>
          </a:prstGeom>
          <a:solidFill>
            <a:srgbClr val="FFF7E0"/>
          </a:solidFill>
          <a:ln w="1524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1673351"/>
            <a:ext cx="4471416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I can listen to a story and identify key plans.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670048"/>
            <a:ext cx="48006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2670048"/>
            <a:ext cx="475488" cy="603504"/>
          </a:xfrm>
          <a:prstGeom prst="rect">
            <a:avLst/>
          </a:prstGeom>
          <a:solidFill>
            <a:srgbClr val="1B7F3A"/>
          </a:solidFill>
          <a:ln w="508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2834640"/>
            <a:ext cx="420624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2752344"/>
            <a:ext cx="4050791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rial"/>
              </a:rPr>
              <a:t>Nakato’s Holiday Story, New Holiday Words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3419856"/>
            <a:ext cx="48006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3419856"/>
            <a:ext cx="475488" cy="603504"/>
          </a:xfrm>
          <a:prstGeom prst="rect">
            <a:avLst/>
          </a:prstGeom>
          <a:solidFill>
            <a:srgbClr val="1B7F3A"/>
          </a:solidFill>
          <a:ln w="508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3584448"/>
            <a:ext cx="420624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3502151"/>
            <a:ext cx="4050791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rial"/>
              </a:rPr>
              <a:t>answer with one reason or example.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4169663"/>
            <a:ext cx="48006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12280" y="4169663"/>
            <a:ext cx="475488" cy="603504"/>
          </a:xfrm>
          <a:prstGeom prst="rect">
            <a:avLst/>
          </a:prstGeom>
          <a:solidFill>
            <a:srgbClr val="1B7F3A"/>
          </a:solidFill>
          <a:ln w="508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4334255"/>
            <a:ext cx="420624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2" y="4251959"/>
            <a:ext cx="4050791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rial"/>
              </a:rPr>
              <a:t>listen, talk, try, explain.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327648"/>
            <a:ext cx="11365992" cy="310896"/>
          </a:xfrm>
          <a:prstGeom prst="rect">
            <a:avLst/>
          </a:prstGeom>
          <a:solidFill>
            <a:srgbClr val="E5E7EB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11064240" cy="1463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rial"/>
              </a:rPr>
              <a:t>Teacher note: make the success criteria visible before activity.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365760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3. 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"/>
            <a:ext cx="3977639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713232"/>
            <a:ext cx="1136599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832104"/>
            <a:ext cx="1088136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2300" b="1">
                <a:solidFill>
                  <a:srgbClr val="111827"/>
                </a:solidFill>
                <a:latin typeface="Arial"/>
              </a:rPr>
              <a:t>Starter: think 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81328"/>
            <a:ext cx="603504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a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27632"/>
            <a:ext cx="5760720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4919472"/>
            <a:ext cx="54406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rial"/>
              </a:rPr>
              <a:t>generated visual insert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600200"/>
            <a:ext cx="1527048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709928"/>
            <a:ext cx="1344168" cy="8595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Where is Nakato going?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49056" y="1600200"/>
            <a:ext cx="1527048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1709928"/>
            <a:ext cx="1344168" cy="8595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compare your first answer with a partner.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5832" y="1600200"/>
            <a:ext cx="1527048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77272" y="1709928"/>
            <a:ext cx="1344168" cy="85953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connect your answer to Nakato’s Holiday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3794760"/>
            <a:ext cx="1527048" cy="11155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2" y="3959352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Arial"/>
              </a:rPr>
              <a:t>Feature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6872" y="4654296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49056" y="3794760"/>
            <a:ext cx="1527048" cy="1115568"/>
          </a:xfrm>
          <a:prstGeom prst="roundRect">
            <a:avLst/>
          </a:prstGeom>
          <a:solidFill>
            <a:srgbClr val="FFF7E0"/>
          </a:solidFill>
          <a:ln w="1143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3959352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13648" y="4654296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85832" y="3794760"/>
            <a:ext cx="1527048" cy="11155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58984" y="3959352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50424" y="4654296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6327648"/>
            <a:ext cx="11365992" cy="310896"/>
          </a:xfrm>
          <a:prstGeom prst="rect">
            <a:avLst/>
          </a:prstGeom>
          <a:solidFill>
            <a:srgbClr val="E5E7EB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11064240" cy="1463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rial"/>
              </a:rPr>
              <a:t>Teacher note: cold-call after pair talk; accept partial answers.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365760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4.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"/>
            <a:ext cx="3977639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713232"/>
            <a:ext cx="1136599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832104"/>
            <a:ext cx="1088136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2300" b="1">
                <a:solidFill>
                  <a:srgbClr val="111827"/>
                </a:solidFill>
                <a:latin typeface="Arial"/>
              </a:rPr>
              <a:t>Nakato’s Holiday 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81328"/>
            <a:ext cx="603504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27632"/>
            <a:ext cx="5760720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4919472"/>
            <a:ext cx="54406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rial"/>
              </a:rPr>
              <a:t>generated visual insert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517904"/>
            <a:ext cx="4800600" cy="749808"/>
          </a:xfrm>
          <a:prstGeom prst="roundRect">
            <a:avLst/>
          </a:prstGeom>
          <a:solidFill>
            <a:srgbClr val="FFF7E0"/>
          </a:solidFill>
          <a:ln w="1524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1655063"/>
            <a:ext cx="4471416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Listen for Nakato’s trip to her grandmother up-country.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578608"/>
            <a:ext cx="1527048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2" y="2743200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087490"/>
                </a:solidFill>
                <a:latin typeface="Arial"/>
              </a:rPr>
              <a:t>Feature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76872" y="3675887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49056" y="2578608"/>
            <a:ext cx="1527048" cy="1353312"/>
          </a:xfrm>
          <a:prstGeom prst="roundRect">
            <a:avLst/>
          </a:prstGeom>
          <a:solidFill>
            <a:srgbClr val="FFF7E0"/>
          </a:solidFill>
          <a:ln w="1143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2743200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087490"/>
                </a:solidFill>
                <a:latin typeface="Arial"/>
              </a:rPr>
              <a:t>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13648" y="3675887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85832" y="2578608"/>
            <a:ext cx="1527048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8984" y="2743200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087490"/>
                </a:solidFill>
                <a:latin typeface="Arial"/>
              </a:rPr>
              <a:t>Explain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50424" y="3675887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12280" y="4160520"/>
            <a:ext cx="48006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12280" y="4160520"/>
            <a:ext cx="475488" cy="603504"/>
          </a:xfrm>
          <a:prstGeom prst="rect">
            <a:avLst/>
          </a:prstGeom>
          <a:solidFill>
            <a:srgbClr val="087490"/>
          </a:solidFill>
          <a:ln w="508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4325112"/>
            <a:ext cx="420624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242816"/>
            <a:ext cx="4050791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rial"/>
              </a:rPr>
              <a:t>Listen to the story carefully.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4910328"/>
            <a:ext cx="48006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12280" y="4910328"/>
            <a:ext cx="475488" cy="603504"/>
          </a:xfrm>
          <a:prstGeom prst="rect">
            <a:avLst/>
          </a:prstGeom>
          <a:solidFill>
            <a:srgbClr val="087490"/>
          </a:solidFill>
          <a:ln w="5080">
            <a:solidFill>
              <a:srgbClr val="08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5074920"/>
            <a:ext cx="420624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72" y="4992624"/>
            <a:ext cx="4050791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rial"/>
              </a:rPr>
              <a:t>Identify the characters.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327648"/>
            <a:ext cx="11365992" cy="310896"/>
          </a:xfrm>
          <a:prstGeom prst="rect">
            <a:avLst/>
          </a:prstGeom>
          <a:solidFill>
            <a:srgbClr val="E5E7EB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11064240" cy="1463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rial"/>
              </a:rPr>
              <a:t>Teacher note: point to the generated visual, then require evidence.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365760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5.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"/>
            <a:ext cx="3977639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713232"/>
            <a:ext cx="1136599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832104"/>
            <a:ext cx="1088136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2300" b="1">
                <a:solidFill>
                  <a:srgbClr val="111827"/>
                </a:solidFill>
                <a:latin typeface="Arial"/>
              </a:rPr>
              <a:t>New Holiday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81328"/>
            <a:ext cx="603504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27632"/>
            <a:ext cx="5760720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4919472"/>
            <a:ext cx="54406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rial"/>
              </a:rPr>
              <a:t>generated visual insert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517904"/>
            <a:ext cx="4800600" cy="749808"/>
          </a:xfrm>
          <a:prstGeom prst="roundRect">
            <a:avLst/>
          </a:prstGeom>
          <a:solidFill>
            <a:srgbClr val="FFF7E0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1655063"/>
            <a:ext cx="4471416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Worked example: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578608"/>
            <a:ext cx="1527048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2" y="2743200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D97706"/>
                </a:solidFill>
                <a:latin typeface="Arial"/>
              </a:rPr>
              <a:t>Feature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76872" y="3675887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49056" y="2578608"/>
            <a:ext cx="1527048" cy="1353312"/>
          </a:xfrm>
          <a:prstGeom prst="roundRect">
            <a:avLst/>
          </a:prstGeom>
          <a:solidFill>
            <a:srgbClr val="FFF7E0"/>
          </a:solidFill>
          <a:ln w="1143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2743200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D97706"/>
                </a:solidFill>
                <a:latin typeface="Arial"/>
              </a:rPr>
              <a:t>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13648" y="3675887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85832" y="2578608"/>
            <a:ext cx="1527048" cy="13533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58984" y="2743200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D97706"/>
                </a:solidFill>
                <a:latin typeface="Arial"/>
              </a:rPr>
              <a:t>Explain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50424" y="3675887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12280" y="4160520"/>
            <a:ext cx="48006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12280" y="4160520"/>
            <a:ext cx="475488" cy="603504"/>
          </a:xfrm>
          <a:prstGeom prst="rect">
            <a:avLst/>
          </a:prstGeom>
          <a:solidFill>
            <a:srgbClr val="D97706"/>
          </a:solidFill>
          <a:ln w="50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4325112"/>
            <a:ext cx="420624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2" y="4242816"/>
            <a:ext cx="4050791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rial"/>
              </a:rPr>
              <a:t>Travel: To go from one place to another.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4910328"/>
            <a:ext cx="48006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12280" y="4910328"/>
            <a:ext cx="475488" cy="603504"/>
          </a:xfrm>
          <a:prstGeom prst="rect">
            <a:avLst/>
          </a:prstGeom>
          <a:solidFill>
            <a:srgbClr val="D97706"/>
          </a:solidFill>
          <a:ln w="50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5074920"/>
            <a:ext cx="420624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72" y="4992624"/>
            <a:ext cx="4050791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1">
                <a:solidFill>
                  <a:srgbClr val="111827"/>
                </a:solidFill>
                <a:latin typeface="Arial"/>
              </a:rPr>
              <a:t>Up-country: Rural areas/the village.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327648"/>
            <a:ext cx="11365992" cy="310896"/>
          </a:xfrm>
          <a:prstGeom prst="rect">
            <a:avLst/>
          </a:prstGeom>
          <a:solidFill>
            <a:srgbClr val="E5E7EB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82512"/>
            <a:ext cx="11064240" cy="1463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rial"/>
              </a:rPr>
              <a:t>Teacher note: model one answer aloud before learners 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365760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6.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"/>
            <a:ext cx="3977639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713232"/>
            <a:ext cx="1136599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832104"/>
            <a:ext cx="1088136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2300" b="1">
                <a:solidFill>
                  <a:srgbClr val="111827"/>
                </a:solidFill>
                <a:latin typeface="Arial"/>
              </a:rPr>
              <a:t>Try it together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81328"/>
            <a:ext cx="603504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27632"/>
            <a:ext cx="5760720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4919472"/>
            <a:ext cx="54406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rial"/>
              </a:rPr>
              <a:t>generated visual insert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517904"/>
            <a:ext cx="4800600" cy="749808"/>
          </a:xfrm>
          <a:prstGeom prst="roundRect">
            <a:avLst/>
          </a:prstGeom>
          <a:solidFill>
            <a:srgbClr val="FFF7E0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76872" y="1655063"/>
            <a:ext cx="4471416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Answer with evidence: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487168"/>
            <a:ext cx="4800600" cy="640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0296" y="2670048"/>
            <a:ext cx="292608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BE123C"/>
                </a:solidFill>
                <a:latin typeface="Arial"/>
              </a:rPr>
              <a:t>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344" y="2578608"/>
            <a:ext cx="4142232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/>
              </a:rPr>
              <a:t>What will she do in the village?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3273552"/>
            <a:ext cx="4800600" cy="640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0296" y="3456432"/>
            <a:ext cx="292608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BE123C"/>
                </a:solidFill>
                <a:latin typeface="Arial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3364992"/>
            <a:ext cx="4142232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/>
              </a:rPr>
              <a:t>Who is she going to visit?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4059936"/>
            <a:ext cx="4800600" cy="640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0296" y="4242816"/>
            <a:ext cx="292608" cy="1828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BE123C"/>
                </a:solidFill>
                <a:latin typeface="Arial"/>
              </a:rP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4344" y="4151376"/>
            <a:ext cx="4142232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rial"/>
              </a:rPr>
              <a:t>What is another word for 'start'?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327648"/>
            <a:ext cx="11365992" cy="310896"/>
          </a:xfrm>
          <a:prstGeom prst="rect">
            <a:avLst/>
          </a:prstGeom>
          <a:solidFill>
            <a:srgbClr val="E5E7EB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382512"/>
            <a:ext cx="11064240" cy="1463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rial"/>
              </a:rPr>
              <a:t>Teacher note: check answer + reason, not answer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365760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7. 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"/>
            <a:ext cx="3977639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713232"/>
            <a:ext cx="1136599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832104"/>
            <a:ext cx="1088136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2300" b="1">
                <a:solidFill>
                  <a:srgbClr val="111827"/>
                </a:solidFill>
                <a:latin typeface="Arial"/>
              </a:rPr>
              <a:t>Activity challenge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81328"/>
            <a:ext cx="603504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7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ctiv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27632"/>
            <a:ext cx="5760720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4919472"/>
            <a:ext cx="54406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rial"/>
              </a:rPr>
              <a:t>generated visual insert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572768"/>
            <a:ext cx="1527048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682495"/>
            <a:ext cx="1344168" cy="8961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Listen to the story; whisper two Nakato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49056" y="1572768"/>
            <a:ext cx="1527048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1682495"/>
            <a:ext cx="1344168" cy="8961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Copy the words and definitions neatly.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5832" y="1572768"/>
            <a:ext cx="1527048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77272" y="1682495"/>
            <a:ext cx="1344168" cy="8961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Repeat together, then do a pronoun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3886200"/>
            <a:ext cx="1527048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2" y="4050791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B7F3A"/>
                </a:solidFill>
                <a:latin typeface="Arial"/>
              </a:rPr>
              <a:t>Feature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6872" y="4636007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49056" y="3886200"/>
            <a:ext cx="1527048" cy="1005840"/>
          </a:xfrm>
          <a:prstGeom prst="roundRect">
            <a:avLst/>
          </a:prstGeom>
          <a:solidFill>
            <a:srgbClr val="FFF7E0"/>
          </a:solidFill>
          <a:ln w="1143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4050791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B7F3A"/>
                </a:solidFill>
                <a:latin typeface="Arial"/>
              </a:rPr>
              <a:t>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13648" y="4636007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85832" y="3886200"/>
            <a:ext cx="1527048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58984" y="4050791"/>
            <a:ext cx="138074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B7F3A"/>
                </a:solidFill>
                <a:latin typeface="Arial"/>
              </a:rPr>
              <a:t>Explain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50424" y="4636007"/>
            <a:ext cx="1197864" cy="27432"/>
          </a:xfrm>
          <a:prstGeom prst="rect">
            <a:avLst/>
          </a:prstGeom>
          <a:solidFill>
            <a:srgbClr val="CBD5E1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6327648"/>
            <a:ext cx="11365992" cy="310896"/>
          </a:xfrm>
          <a:prstGeom prst="rect">
            <a:avLst/>
          </a:prstGeom>
          <a:solidFill>
            <a:srgbClr val="E5E7EB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11064240" cy="1463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rial"/>
              </a:rPr>
              <a:t>Teacher note: circulate, listen, and improve one group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111827"/>
          </a:solidFill>
          <a:ln w="508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"/>
            <a:ext cx="12191695" cy="68580"/>
          </a:xfrm>
          <a:prstGeom prst="rect">
            <a:avLst/>
          </a:prstGeom>
          <a:solidFill>
            <a:srgbClr val="FCD116"/>
          </a:solidFill>
          <a:ln w="508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2356"/>
            <a:ext cx="12191695" cy="50292"/>
          </a:xfrm>
          <a:prstGeom prst="rect">
            <a:avLst/>
          </a:prstGeom>
          <a:solidFill>
            <a:srgbClr val="D90000"/>
          </a:solidFill>
          <a:ln w="508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"/>
            <a:ext cx="3657600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8. EXIT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"/>
            <a:ext cx="3977639" cy="20116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rial"/>
              </a:rPr>
              <a:t>p7_t1_english_0101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713232"/>
            <a:ext cx="11365992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832104"/>
            <a:ext cx="1088136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2300" b="1">
                <a:solidFill>
                  <a:srgbClr val="111827"/>
                </a:solidFill>
                <a:latin typeface="Arial"/>
              </a:rPr>
              <a:t>Exit ticket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81328"/>
            <a:ext cx="603504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x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627632"/>
            <a:ext cx="5760720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6384" y="4919472"/>
            <a:ext cx="5440680" cy="16459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/>
            <a:r>
              <a:rPr sz="850" b="0">
                <a:solidFill>
                  <a:srgbClr val="475569"/>
                </a:solidFill>
                <a:latin typeface="Arial"/>
              </a:rPr>
              <a:t>generated visual insert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554480"/>
            <a:ext cx="4800600" cy="1097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700784"/>
            <a:ext cx="4343400" cy="804671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700" b="1">
                <a:solidFill>
                  <a:srgbClr val="111827"/>
                </a:solidFill>
                <a:latin typeface="Arial"/>
              </a:rPr>
              <a:t>Where will you be in three weeks?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907792"/>
            <a:ext cx="4800600" cy="1737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EXIT TICKET
____________________________
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4864608"/>
            <a:ext cx="152704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4974336"/>
            <a:ext cx="1344168" cy="4389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Use one complete sentence.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49056" y="4864608"/>
            <a:ext cx="152704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4974336"/>
            <a:ext cx="1344168" cy="4389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Use one key word: Listening for detail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85832" y="4864608"/>
            <a:ext cx="1527048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B7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77272" y="4974336"/>
            <a:ext cx="1344168" cy="43891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Hand in or read your answer aloud.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327648"/>
            <a:ext cx="11365992" cy="310896"/>
          </a:xfrm>
          <a:prstGeom prst="rect">
            <a:avLst/>
          </a:prstGeom>
          <a:solidFill>
            <a:srgbClr val="E5E7EB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11064240" cy="1463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850" b="0">
                <a:solidFill>
                  <a:srgbClr val="475569"/>
                </a:solidFill>
                <a:latin typeface="Arial"/>
              </a:rPr>
              <a:t>Teacher note: collect one complete sentence as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