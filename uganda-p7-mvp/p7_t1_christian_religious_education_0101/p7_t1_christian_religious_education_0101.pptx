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1.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024128"/>
            <a:ext cx="10835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Christians and the Holy Spirit (Topic 1: Enriched in the Spirit)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3794760" cy="4343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52400" bIns="38100"/>
          <a:lstStyle/>
          <a:p>
            <a:pPr algn="ctr"/>
            <a:r>
              <a:rPr sz="1800" b="1">
                <a:solidFill>
                  <a:srgbClr val="1D4ED8"/>
                </a:solidFill>
                <a:latin typeface="Arial"/>
              </a:rPr>
              <a:t>Christian Religious Education</a:t>
            </a:r>
          </a:p>
        </p:txBody>
      </p:sp>
      <p:sp>
        <p:nvSpPr>
          <p:cNvPr id="12" name="Oval 11"/>
          <p:cNvSpPr/>
          <p:nvPr/>
        </p:nvSpPr>
        <p:spPr>
          <a:xfrm>
            <a:off x="2429560" y="2939796"/>
            <a:ext cx="551383" cy="452628"/>
          </a:xfrm>
          <a:prstGeom prst="ellipse">
            <a:avLst/>
          </a:prstGeom>
          <a:solidFill>
            <a:srgbClr val="FCD116"/>
          </a:solidFill>
          <a:ln w="1016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13355" y="3392424"/>
            <a:ext cx="183794" cy="10561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45766" y="3694176"/>
            <a:ext cx="918971" cy="12573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878177" y="4247388"/>
            <a:ext cx="1684782" cy="201168"/>
          </a:xfrm>
          <a:prstGeom prst="round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745736"/>
            <a:ext cx="3063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Christian Religious Education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50468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Look • wonder • predict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2040" y="1965960"/>
            <a:ext cx="6355080" cy="3520440"/>
          </a:xfrm>
          <a:prstGeom prst="roundRect">
            <a:avLst/>
          </a:prstGeom>
          <a:solidFill>
            <a:srgbClr val="FFF7E0"/>
          </a:solidFill>
          <a:ln w="2032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57800" y="2267712"/>
            <a:ext cx="5623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Arial"/>
              </a:rPr>
              <a:t>OPENING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2" y="2788920"/>
            <a:ext cx="557784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111827"/>
                </a:solidFill>
                <a:latin typeface="Arial"/>
              </a:rPr>
              <a:t>Big question: Can you see the wind?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5232" y="4315968"/>
            <a:ext cx="5577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475569"/>
                </a:solidFill>
                <a:latin typeface="Arial"/>
              </a:rPr>
              <a:t>First think alone. Then tell a partner one possible answer.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define the Holy Spirit and recognize Him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1  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Use: What is a Spirit?, Defining the Holy Spirit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2 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Show: answer with one reason or example.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3 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Routine: listen, talk, try, explain.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399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399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4  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Explain in your own words.</a:t>
            </a:r>
          </a:p>
        </p:txBody>
      </p:sp>
      <p:sp>
        <p:nvSpPr>
          <p:cNvPr id="28" name="Oval 27"/>
          <p:cNvSpPr/>
          <p:nvPr/>
        </p:nvSpPr>
        <p:spPr>
          <a:xfrm>
            <a:off x="5848502" y="5360212"/>
            <a:ext cx="460857" cy="148132"/>
          </a:xfrm>
          <a:prstGeom prst="ellipse">
            <a:avLst/>
          </a:prstGeom>
          <a:solidFill>
            <a:srgbClr val="FCD116"/>
          </a:solidFill>
          <a:ln w="1016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02121" y="5508345"/>
            <a:ext cx="153619" cy="345643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94883" y="5607100"/>
            <a:ext cx="768096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387644" y="5788152"/>
            <a:ext cx="1408176" cy="65836"/>
          </a:xfrm>
          <a:prstGeom prst="round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996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Can you see the wind?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30 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compare your first answer with a partner.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with partner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3660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 your answer to What is a Spirit?.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whole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What is a Spirit?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828800"/>
            <a:ext cx="3337560" cy="4160520"/>
          </a:xfrm>
          <a:prstGeom prst="roundRect">
            <a:avLst/>
          </a:prstGeom>
          <a:solidFill>
            <a:srgbClr val="FFF7E0"/>
          </a:solidFill>
          <a:ln w="1905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30221" y="2610612"/>
            <a:ext cx="485546" cy="370332"/>
          </a:xfrm>
          <a:prstGeom prst="ellipse">
            <a:avLst/>
          </a:prstGeom>
          <a:solidFill>
            <a:srgbClr val="FCD116"/>
          </a:solidFill>
          <a:ln w="1016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92070" y="2980944"/>
            <a:ext cx="161848" cy="8641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68372" y="3227832"/>
            <a:ext cx="809244" cy="10287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744675" y="3680460"/>
            <a:ext cx="1483614" cy="164592"/>
          </a:xfrm>
          <a:prstGeom prst="round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041648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Christian Religious Education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617720"/>
            <a:ext cx="29077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87490"/>
                </a:solidFill>
                <a:latin typeface="Arial"/>
              </a:rPr>
              <a:t>KEY IDEA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919472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Arial"/>
              </a:rPr>
              <a:t>Key idea: Introduction to the "Spirit" concept. Just as wind is invisible but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1874519"/>
            <a:ext cx="681228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0" y="1874519"/>
            <a:ext cx="566928" cy="93268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221991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2039112"/>
            <a:ext cx="57881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A spirit is invisible.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0" y="3108960"/>
            <a:ext cx="681228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0" y="3108960"/>
            <a:ext cx="566928" cy="93268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45643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3273552"/>
            <a:ext cx="57881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11827"/>
                </a:solidFill>
                <a:latin typeface="Arial"/>
              </a:rPr>
              <a:t>We see the effects of a spirit, like we see wind moving trees.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0" y="4343400"/>
            <a:ext cx="681228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0" y="4343400"/>
            <a:ext cx="566928" cy="93268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469087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58384" y="4507992"/>
            <a:ext cx="57881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The Spirit is the "breath" of God.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Defining the Holy Spirit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28800"/>
            <a:ext cx="7360920" cy="4251960"/>
          </a:xfrm>
          <a:prstGeom prst="roundRect">
            <a:avLst/>
          </a:prstGeom>
          <a:solidFill>
            <a:srgbClr val="1F2937"/>
          </a:solidFill>
          <a:ln w="19050">
            <a:solidFill>
              <a:srgbClr val="FCD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84831"/>
            <a:ext cx="6812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CD116"/>
                </a:solidFill>
                <a:latin typeface="Arial"/>
              </a:rPr>
              <a:t>BOARD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578608"/>
            <a:ext cx="6583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Arial"/>
              </a:rPr>
              <a:t>1. 2. The Holy Spirit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54679"/>
            <a:ext cx="6583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Arial"/>
              </a:rPr>
              <a:t>2. He is God's presence in us.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730752"/>
            <a:ext cx="6583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Arial"/>
              </a:rPr>
              <a:t>3. He is the "Gift and the Giver."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1828800"/>
            <a:ext cx="2697480" cy="4251960"/>
          </a:xfrm>
          <a:prstGeom prst="roundRect">
            <a:avLst/>
          </a:prstGeom>
          <a:solidFill>
            <a:srgbClr val="FFF7E0"/>
          </a:solidFill>
          <a:ln w="1651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48418" y="2636215"/>
            <a:ext cx="337413" cy="304495"/>
          </a:xfrm>
          <a:prstGeom prst="ellipse">
            <a:avLst/>
          </a:prstGeom>
          <a:solidFill>
            <a:srgbClr val="FCD116"/>
          </a:solidFill>
          <a:ln w="1016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860889" y="2940710"/>
            <a:ext cx="112471" cy="7104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635947" y="3143707"/>
            <a:ext cx="562355" cy="8458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411004" y="3515868"/>
            <a:ext cx="1030986" cy="135331"/>
          </a:xfrm>
          <a:prstGeom prst="round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3767328"/>
            <a:ext cx="187451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Christian Religious Education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4526280"/>
            <a:ext cx="205740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Teacher models first. Learners copy the pattern, then explain the step.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19072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 with evidence: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743200"/>
            <a:ext cx="1037844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8992" y="2898648"/>
            <a:ext cx="475488" cy="475488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889504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How do you know the wind is there?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3264408"/>
            <a:ext cx="3246120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3822191"/>
            <a:ext cx="1037844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78992" y="3977639"/>
            <a:ext cx="475488" cy="475488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19072" y="3968496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Is God visible to our physical eyes?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4343400"/>
            <a:ext cx="3246120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680" y="4901183"/>
            <a:ext cx="1037844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" y="5056631"/>
            <a:ext cx="475488" cy="475488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19072" y="5047488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Who is the Holy Spirit?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35240" y="5422392"/>
            <a:ext cx="3246120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989320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the source idea, not guessing.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3063240" cy="434340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122322" y="2461564"/>
            <a:ext cx="419709" cy="312724"/>
          </a:xfrm>
          <a:prstGeom prst="ellipse">
            <a:avLst/>
          </a:prstGeom>
          <a:solidFill>
            <a:srgbClr val="FCD116"/>
          </a:solidFill>
          <a:ln w="1016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62225" y="2774289"/>
            <a:ext cx="139903" cy="729691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82419" y="2982772"/>
            <a:ext cx="699515" cy="8686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702612" y="3364991"/>
            <a:ext cx="1282446" cy="138988"/>
          </a:xfrm>
          <a:prstGeom prst="round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63016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Christian Religious Education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315968"/>
            <a:ext cx="2697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B7F3A"/>
                </a:solidFill>
                <a:latin typeface="Arial"/>
              </a:rPr>
              <a:t>GROUP CHALLENGE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54880"/>
            <a:ext cx="2606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Arial"/>
              </a:rPr>
              <a:t>Produce one answer the class can check.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1828800"/>
            <a:ext cx="6903720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3400" y="1828800"/>
            <a:ext cx="566928" cy="868680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2144268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9784" y="1993392"/>
            <a:ext cx="587959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rial"/>
              </a:rPr>
              <a:t>Blow on their hands and observe trees moving outside to understand the concept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2999232"/>
            <a:ext cx="6903720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43400" y="2999232"/>
            <a:ext cx="566928" cy="868680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43400" y="3314700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9784" y="3163824"/>
            <a:ext cx="587959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rial"/>
              </a:rPr>
              <a:t>Discuss in pairs what it means to receive a gift that is also the person who gave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3400" y="4169664"/>
            <a:ext cx="6903720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4169664"/>
            <a:ext cx="566928" cy="868680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3400" y="448513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9784" y="4334256"/>
            <a:ext cx="587959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rial"/>
              </a:rPr>
              <a:t>Teacher demonstrates the Trinity using the three-stone stove analogy while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0" y="5413248"/>
            <a:ext cx="6903720" cy="6583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0" y="5577840"/>
            <a:ext cx="6446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D90000"/>
                </a:solidFill>
                <a:latin typeface="Arial"/>
              </a:rPr>
              <a:t>Class share-out: one group explains, one group improves it.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783080"/>
            <a:ext cx="9921240" cy="4434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27000" bIns="38100"/>
          <a:lstStyle/>
          <a:p>
            <a:pPr algn="ctr"/>
            <a:r>
              <a:rPr sz="1500" b="1">
                <a:solidFill>
                  <a:srgbClr val="4338CA"/>
                </a:solidFill>
                <a:latin typeface="Arial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8823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Answer: Can you name the three persons?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93008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977639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4462272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86460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8464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key word: Spirit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50468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90000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