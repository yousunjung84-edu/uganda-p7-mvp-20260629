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Arial"/>
              </a:rPr>
              <a:t>3.4 Energy Resources in the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794760" cy="4343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52400" bIns="38100"/>
          <a:lstStyle/>
          <a:p>
            <a:pPr algn="ctr"/>
            <a:r>
              <a:rPr sz="1800" b="1">
                <a:solidFill>
                  <a:srgbClr val="1D4ED8"/>
                </a:solidFill>
                <a:latin typeface="Arial"/>
              </a:rPr>
              <a:t>Integrated Science</a:t>
            </a:r>
          </a:p>
        </p:txBody>
      </p:sp>
      <p:sp>
        <p:nvSpPr>
          <p:cNvPr id="12" name="Oval 11"/>
          <p:cNvSpPr/>
          <p:nvPr/>
        </p:nvSpPr>
        <p:spPr>
          <a:xfrm>
            <a:off x="2429560" y="2939796"/>
            <a:ext cx="490118" cy="402336"/>
          </a:xfrm>
          <a:prstGeom prst="ellipse">
            <a:avLst/>
          </a:prstGeom>
          <a:solidFill>
            <a:srgbClr val="FFF7E0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45766" y="3392424"/>
            <a:ext cx="857707" cy="10561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29560" y="3643884"/>
            <a:ext cx="490118" cy="301751"/>
          </a:xfrm>
          <a:prstGeom prst="ellipse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16912" y="3744468"/>
            <a:ext cx="1715414" cy="100584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745736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/>
              </a:rPr>
              <a:t>Integrated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50468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rial"/>
              </a:rPr>
              <a:t>Look • wonder • predict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1965960"/>
            <a:ext cx="6355080" cy="3520440"/>
          </a:xfrm>
          <a:prstGeom prst="roundRect">
            <a:avLst/>
          </a:prstGeom>
          <a:solidFill>
            <a:srgbClr val="FFF7E0"/>
          </a:solidFill>
          <a:ln w="203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267712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D4ED8"/>
                </a:solidFill>
                <a:latin typeface="Arial"/>
              </a:rPr>
              <a:t>OPENING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2788920"/>
            <a:ext cx="55778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Big question: Which experiment did you find most challenging?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4315968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rial"/>
              </a:rPr>
              <a:t>First think alone. Then tell a partner one possible answer.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55648"/>
            <a:ext cx="10652760" cy="822960"/>
          </a:xfrm>
          <a:prstGeom prst="roundRect">
            <a:avLst/>
          </a:prstGeom>
          <a:solidFill>
            <a:srgbClr val="FFF7E0"/>
          </a:solidFill>
          <a:ln w="177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Goal: Recalls and identify key experiments conducted from Term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1800"/>
            <a:ext cx="242316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1800"/>
            <a:ext cx="2423160" cy="16459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355848"/>
            <a:ext cx="20208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7F3A"/>
                </a:solidFill>
                <a:latin typeface="Arial"/>
              </a:rPr>
              <a:t>1  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2277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Use: Looking Back at Our Experiments, How to Write a Science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971800"/>
            <a:ext cx="242316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971800"/>
            <a:ext cx="2423160" cy="16459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3355848"/>
            <a:ext cx="20208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7F3A"/>
                </a:solidFill>
                <a:latin typeface="Arial"/>
              </a:rPr>
              <a:t>2  Practise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92277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Show: answer with one reason or example.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71800"/>
            <a:ext cx="242316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71800"/>
            <a:ext cx="2423160" cy="16459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7" y="3355848"/>
            <a:ext cx="20208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7F3A"/>
                </a:solidFill>
                <a:latin typeface="Arial"/>
              </a:rPr>
              <a:t>3  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92277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Routine: listen, talk, try, explain.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3999" y="2971800"/>
            <a:ext cx="242316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3999" y="2971800"/>
            <a:ext cx="2423160" cy="16459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7" y="3355848"/>
            <a:ext cx="20208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7F3A"/>
                </a:solidFill>
                <a:latin typeface="Arial"/>
              </a:rPr>
              <a:t>4  Reflect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599" y="392277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Explain in your own words.</a:t>
            </a:r>
          </a:p>
        </p:txBody>
      </p:sp>
      <p:sp>
        <p:nvSpPr>
          <p:cNvPr id="28" name="Oval 27"/>
          <p:cNvSpPr/>
          <p:nvPr/>
        </p:nvSpPr>
        <p:spPr>
          <a:xfrm>
            <a:off x="5848502" y="5360212"/>
            <a:ext cx="409651" cy="131673"/>
          </a:xfrm>
          <a:prstGeom prst="ellipse">
            <a:avLst/>
          </a:prstGeom>
          <a:solidFill>
            <a:srgbClr val="FFF7E0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94883" y="5508345"/>
            <a:ext cx="716889" cy="345643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48502" y="5590641"/>
            <a:ext cx="409651" cy="98755"/>
          </a:xfrm>
          <a:prstGeom prst="ellipse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36438" y="5623560"/>
            <a:ext cx="1433779" cy="32918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74519"/>
            <a:ext cx="3154680" cy="397763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29968" y="2148840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99232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rial"/>
              </a:rPr>
              <a:t>THINK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57600"/>
            <a:ext cx="2514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rial"/>
              </a:rPr>
              <a:t>Which experiment did you find most challenging?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166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rial"/>
              </a:rPr>
              <a:t>30 seconds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874519"/>
            <a:ext cx="3154680" cy="397763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148840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99232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rial"/>
              </a:rPr>
              <a:t>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57600"/>
            <a:ext cx="2514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rial"/>
              </a:rPr>
              <a:t>compare your first answer with a partner.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166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rial"/>
              </a:rPr>
              <a:t>with partner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874519"/>
            <a:ext cx="3154680" cy="397763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36608" y="2148840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999232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rial"/>
              </a:rPr>
              <a:t>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657600"/>
            <a:ext cx="2514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rial"/>
              </a:rPr>
              <a:t>connect your answer to Looking Back at Our Experiments.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166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rial"/>
              </a:rPr>
              <a:t>whole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Looking Back at Our Experiments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3337560" cy="4160520"/>
          </a:xfrm>
          <a:prstGeom prst="roundRect">
            <a:avLst/>
          </a:prstGeom>
          <a:solidFill>
            <a:srgbClr val="FFF7E0"/>
          </a:solidFill>
          <a:ln w="1905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30221" y="2610612"/>
            <a:ext cx="431596" cy="329184"/>
          </a:xfrm>
          <a:prstGeom prst="ellipse">
            <a:avLst/>
          </a:prstGeom>
          <a:solidFill>
            <a:srgbClr val="FFF7E0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68372" y="2980944"/>
            <a:ext cx="755294" cy="8641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30221" y="3186684"/>
            <a:ext cx="431596" cy="246888"/>
          </a:xfrm>
          <a:prstGeom prst="ellipse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0725" y="3268980"/>
            <a:ext cx="1510588" cy="82296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4164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/>
              </a:rPr>
              <a:t>Integrated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617720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87490"/>
                </a:solidFill>
                <a:latin typeface="Arial"/>
              </a:rPr>
              <a:t>KEY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1947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Key idea: Prior knowledge activation regarding Term 1 Science practicals (Skeleton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874519"/>
            <a:ext cx="6812280" cy="9326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874519"/>
            <a:ext cx="566928" cy="932688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221991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039112"/>
            <a:ext cx="578815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Reviewing the Muscular-Skeletal model.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108960"/>
            <a:ext cx="6812280" cy="9326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108960"/>
            <a:ext cx="566928" cy="932688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45643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3273552"/>
            <a:ext cx="578815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Recalling the Electricity and Magnetism circuit.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343400"/>
            <a:ext cx="6812280" cy="9326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4343400"/>
            <a:ext cx="566928" cy="932688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69087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4" y="4507992"/>
            <a:ext cx="578815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Remembering the Energy Resources (biogas/solar) project.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How to Write a Science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28800"/>
            <a:ext cx="7360920" cy="42519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84831"/>
            <a:ext cx="6812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CD116"/>
                </a:solidFill>
                <a:latin typeface="Arial"/>
              </a:rPr>
              <a:t>BOARD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78608"/>
            <a:ext cx="658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rial"/>
              </a:rPr>
              <a:t>1. Title and Aim (What and Why).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54679"/>
            <a:ext cx="658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rial"/>
              </a:rPr>
              <a:t>2. Apparatus/Materials (The tools).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30752"/>
            <a:ext cx="658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rial"/>
              </a:rPr>
              <a:t>3. Procedure (The steps).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828800"/>
            <a:ext cx="2697480" cy="4251960"/>
          </a:xfrm>
          <a:prstGeom prst="roundRect">
            <a:avLst/>
          </a:prstGeom>
          <a:solidFill>
            <a:srgbClr val="FFF7E0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48418" y="2636215"/>
            <a:ext cx="299923" cy="270662"/>
          </a:xfrm>
          <a:prstGeom prst="ellipse">
            <a:avLst/>
          </a:prstGeom>
          <a:solidFill>
            <a:srgbClr val="FFF7E0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35947" y="2940710"/>
            <a:ext cx="524865" cy="71048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48418" y="3109874"/>
            <a:ext cx="299923" cy="202996"/>
          </a:xfrm>
          <a:prstGeom prst="ellipse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73514" y="3177539"/>
            <a:ext cx="1049731" cy="67665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767328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/>
              </a:rPr>
              <a:t>Integrated Science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526280"/>
            <a:ext cx="2057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Teacher models first. Learners copy the pattern, then explain the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19072"/>
            <a:ext cx="10652760" cy="822960"/>
          </a:xfrm>
          <a:prstGeom prst="roundRect">
            <a:avLst/>
          </a:prstGeom>
          <a:solidFill>
            <a:srgbClr val="FFF7E0"/>
          </a:solidFill>
          <a:ln w="1778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43200"/>
            <a:ext cx="10378440" cy="8046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2898648"/>
            <a:ext cx="475488" cy="475488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889504"/>
            <a:ext cx="5623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What materials did we use to represent the backbone in our model?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3264408"/>
            <a:ext cx="324612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822191"/>
            <a:ext cx="10378440" cy="8046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8992" y="3977639"/>
            <a:ext cx="475488" cy="475488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968496"/>
            <a:ext cx="5623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What is the difference between apparatus and procedure?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4343400"/>
            <a:ext cx="324612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901183"/>
            <a:ext cx="10378440" cy="8046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5056631"/>
            <a:ext cx="475488" cy="475488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5047488"/>
            <a:ext cx="5623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Why do we need an 'Aim' in our report?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5422392"/>
            <a:ext cx="324612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989320"/>
            <a:ext cx="10287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rial"/>
              </a:rPr>
              <a:t>Use the source idea, not guessing.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063240" cy="4343400"/>
          </a:xfrm>
          <a:prstGeom prst="roundRect">
            <a:avLst/>
          </a:prstGeom>
          <a:solidFill>
            <a:srgbClr val="FFF7E0"/>
          </a:solidFill>
          <a:ln w="177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22322" y="2461564"/>
            <a:ext cx="373075" cy="277977"/>
          </a:xfrm>
          <a:prstGeom prst="ellipse">
            <a:avLst/>
          </a:prstGeom>
          <a:solidFill>
            <a:srgbClr val="FFF7E0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82419" y="2774289"/>
            <a:ext cx="652881" cy="729691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22322" y="2948025"/>
            <a:ext cx="373075" cy="208483"/>
          </a:xfrm>
          <a:prstGeom prst="ellipse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55978" y="3017520"/>
            <a:ext cx="1305763" cy="69494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63016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/>
              </a:rPr>
              <a:t>Integrated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15968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7F3A"/>
                </a:solidFill>
                <a:latin typeface="Arial"/>
              </a:rPr>
              <a:t>GROUP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Produce one answer the class can check.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828800"/>
            <a:ext cx="6903720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828800"/>
            <a:ext cx="566928" cy="868680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144268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993392"/>
            <a:ext cx="587959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rial"/>
              </a:rPr>
              <a:t>Brainstorm in pairs and list all the scientific experiments and models created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999232"/>
            <a:ext cx="6903720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999232"/>
            <a:ext cx="566928" cy="868680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3147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3163824"/>
            <a:ext cx="587959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rial"/>
              </a:rPr>
              <a:t>Copy the report structure into their notebooks and label each part based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169664"/>
            <a:ext cx="6903720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169664"/>
            <a:ext cx="566928" cy="868680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48513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4" y="4334256"/>
            <a:ext cx="587959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rial"/>
              </a:rPr>
              <a:t>Participate in a whole-class exercise to verbally summarize the 'Biogas Digester'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5413248"/>
            <a:ext cx="69037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577840"/>
            <a:ext cx="6446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90000"/>
                </a:solidFill>
                <a:latin typeface="Arial"/>
              </a:rPr>
              <a:t>Class share-out: one group explains, one group improves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p7_t1_integrated_science_1205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783080"/>
            <a:ext cx="9921240" cy="4434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27000" bIns="38100"/>
          <a:lstStyle/>
          <a:p>
            <a:pPr algn="ctr"/>
            <a:r>
              <a:rPr sz="1500" b="1">
                <a:solidFill>
                  <a:srgbClr val="4338CA"/>
                </a:solidFill>
                <a:latin typeface="Arial"/>
              </a:rPr>
              <a:t>EXIT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87168"/>
            <a:ext cx="8823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Answer: How does writing a report help you remember the experiment?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3493008"/>
            <a:ext cx="8321040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3977639"/>
            <a:ext cx="8321040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0240" y="4462272"/>
            <a:ext cx="8321040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864608"/>
            <a:ext cx="8823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rial"/>
              </a:rPr>
              <a:t>Use one complete sentence.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84648"/>
            <a:ext cx="8823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rial"/>
              </a:rPr>
              <a:t>Hand in or read your answer aloud.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