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1. HOOK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987552"/>
            <a:ext cx="108356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111827"/>
                </a:solidFill>
                <a:latin typeface="Arial"/>
              </a:rPr>
              <a:t>01 Sets (Set Concepts)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D4ED8"/>
                </a:solidFill>
                <a:latin typeface="Arial"/>
              </a:rPr>
              <a:t>OPENING VISUAL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How many stones are in my hand?</a:t>
            </a:r>
          </a:p>
        </p:txBody>
      </p:sp>
      <p:sp>
        <p:nvSpPr>
          <p:cNvPr id="13" name="Oval 12"/>
          <p:cNvSpPr/>
          <p:nvPr/>
        </p:nvSpPr>
        <p:spPr>
          <a:xfrm>
            <a:off x="3520440" y="3264408"/>
            <a:ext cx="2331720" cy="1965960"/>
          </a:xfrm>
          <a:prstGeom prst="ellipse">
            <a:avLst/>
          </a:prstGeom>
          <a:solidFill>
            <a:srgbClr val="EEF2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59" y="3264408"/>
            <a:ext cx="2331720" cy="1965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800" y="3017520"/>
            <a:ext cx="5623560" cy="24505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Think alone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Pair talk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60857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Share one idea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2. MISSION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Today's mission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Goal: I can distinguish between finite and infinite sets using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1  Learn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Use: Can We Count Everything?, Defining Our Sets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66160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60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67328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2  Practise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94760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Show: answer with one reason or example.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7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5507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5624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3  Show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7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Routine: listen, talk, try, explain.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3999" y="2971800"/>
            <a:ext cx="2423160" cy="2103120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43999" y="2971800"/>
            <a:ext cx="2423160" cy="164592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5167" y="3355848"/>
            <a:ext cx="202082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B7F3A"/>
                </a:solidFill>
                <a:latin typeface="Arial"/>
              </a:rPr>
              <a:t>4  Reflect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599" y="3922776"/>
            <a:ext cx="1965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Explain in your own words.</a:t>
            </a:r>
          </a:p>
        </p:txBody>
      </p:sp>
      <p:sp>
        <p:nvSpPr>
          <p:cNvPr id="28" name="Oval 27"/>
          <p:cNvSpPr/>
          <p:nvPr/>
        </p:nvSpPr>
        <p:spPr>
          <a:xfrm>
            <a:off x="5234025" y="5442508"/>
            <a:ext cx="972921" cy="362102"/>
          </a:xfrm>
          <a:prstGeom prst="ellipse">
            <a:avLst/>
          </a:prstGeom>
          <a:solidFill>
            <a:srgbClr val="EEF2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99708" y="5442508"/>
            <a:ext cx="972921" cy="362102"/>
          </a:xfrm>
          <a:prstGeom prst="ellipse">
            <a:avLst/>
          </a:prstGeom>
          <a:solidFill>
            <a:srgbClr val="FAF5FF"/>
          </a:solidFill>
          <a:ln w="1016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541264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58153" y="5557723"/>
            <a:ext cx="460857" cy="13167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D90000"/>
                </a:solidFill>
                <a:latin typeface="Arial"/>
              </a:rPr>
              <a:t>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3. STARTER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Starter: think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2996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How many stones are in my hand?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30 seconds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2628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73328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4632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compare your first answer with a partner.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with partner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0" y="1874519"/>
            <a:ext cx="3154680" cy="3977639"/>
          </a:xfrm>
          <a:prstGeom prst="roundRect">
            <a:avLst/>
          </a:prstGeom>
          <a:solidFill>
            <a:srgbClr val="FFFFFF"/>
          </a:solidFill>
          <a:ln w="1651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36608" y="2148840"/>
            <a:ext cx="713232" cy="713232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999232"/>
            <a:ext cx="251460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7C3AED"/>
                </a:solidFill>
                <a:latin typeface="Arial"/>
              </a:rPr>
              <a:t>SHARE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49640" y="3657600"/>
            <a:ext cx="25146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connect your answer to Can We Count Everything?.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9640" y="5166360"/>
            <a:ext cx="2514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475569"/>
                </a:solidFill>
                <a:latin typeface="Arial"/>
              </a:rPr>
              <a:t>whole class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08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4. CONCEPT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Can We Count Everything?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08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087490"/>
                </a:solidFill>
                <a:latin typeface="Arial"/>
              </a:rPr>
              <a:t>CONTENT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Concrete exploration of countable objects</a:t>
            </a:r>
          </a:p>
        </p:txBody>
      </p:sp>
      <p:sp>
        <p:nvSpPr>
          <p:cNvPr id="13" name="Oval 12"/>
          <p:cNvSpPr/>
          <p:nvPr/>
        </p:nvSpPr>
        <p:spPr>
          <a:xfrm>
            <a:off x="3520440" y="3264408"/>
            <a:ext cx="2331720" cy="1965960"/>
          </a:xfrm>
          <a:prstGeom prst="ellipse">
            <a:avLst/>
          </a:prstGeom>
          <a:solidFill>
            <a:srgbClr val="EEF2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59" y="3264408"/>
            <a:ext cx="2331720" cy="1965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800" y="3017520"/>
            <a:ext cx="5623560" cy="24505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Practical counting of stones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Attempting to count grains of sand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60857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Identifying which count can be finished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5.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Defining Our Sets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D97706"/>
                </a:solidFill>
                <a:latin typeface="Arial"/>
              </a:rPr>
              <a:t>MODEL 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Worked example</a:t>
            </a:r>
          </a:p>
        </p:txBody>
      </p:sp>
      <p:sp>
        <p:nvSpPr>
          <p:cNvPr id="13" name="Oval 12"/>
          <p:cNvSpPr/>
          <p:nvPr/>
        </p:nvSpPr>
        <p:spPr>
          <a:xfrm>
            <a:off x="3520440" y="3264408"/>
            <a:ext cx="2331720" cy="1965960"/>
          </a:xfrm>
          <a:prstGeom prst="ellipse">
            <a:avLst/>
          </a:prstGeom>
          <a:solidFill>
            <a:srgbClr val="EEF2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59" y="3264408"/>
            <a:ext cx="2331720" cy="1965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800" y="3017520"/>
            <a:ext cx="5623560" cy="24505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Finite Set: Has a countable number of members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Infinite Set: Has members that go on forever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60857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Examples from daily life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6.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Try it together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1975104"/>
            <a:ext cx="1920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BE123C"/>
                </a:solidFill>
                <a:latin typeface="Arial"/>
              </a:rPr>
              <a:t>PRACTICE FLOW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304288"/>
            <a:ext cx="10652760" cy="822960"/>
          </a:xfrm>
          <a:prstGeom prst="roundRect">
            <a:avLst/>
          </a:prstGeom>
          <a:solidFill>
            <a:srgbClr val="FFF7E0"/>
          </a:solidFill>
          <a:ln w="1778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900" b="1">
                <a:solidFill>
                  <a:srgbClr val="111827"/>
                </a:solidFill>
                <a:latin typeface="Arial"/>
              </a:rPr>
              <a:t>Answer with evidence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06424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5064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Can you tell me exactly how many grains are in that pile of sand?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63040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14215" y="4251960"/>
            <a:ext cx="402337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416552" y="3401568"/>
            <a:ext cx="3063240" cy="1691640"/>
          </a:xfrm>
          <a:prstGeom prst="roundRect">
            <a:avLst/>
          </a:prstGeom>
          <a:solidFill>
            <a:srgbClr val="FFF7E0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562856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11496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Which count was easier to finish?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19472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19472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70648" y="4251960"/>
            <a:ext cx="402335" cy="0"/>
          </a:xfrm>
          <a:prstGeom prst="line">
            <a:avLst/>
          </a:prstGeom>
          <a:ln w="25400">
            <a:solidFill>
              <a:srgbClr val="BE12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872983" y="3401568"/>
            <a:ext cx="3063240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019288" y="3584448"/>
            <a:ext cx="420624" cy="420624"/>
          </a:xfrm>
          <a:prstGeom prst="ellipse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1600" rIns="101600" tIns="38100" bIns="38100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7928" y="3529584"/>
            <a:ext cx="2148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111827"/>
                </a:solidFill>
                <a:latin typeface="Arial"/>
              </a:rPr>
              <a:t>What is a finite set?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75904" y="4553712"/>
            <a:ext cx="205740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5904" y="4709160"/>
            <a:ext cx="2057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>
                <a:solidFill>
                  <a:srgbClr val="475569"/>
                </a:solidFill>
                <a:latin typeface="Arial"/>
              </a:rPr>
              <a:t>answer + reason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907024"/>
            <a:ext cx="10287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evidence from the lesson, not guessing.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1B7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7. ACTIVITY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Activity challenge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1755648"/>
            <a:ext cx="10652760" cy="448056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1B7F3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01600" bIns="38100"/>
          <a:lstStyle/>
          <a:p>
            <a:pPr algn="l"/>
            <a:r>
              <a:rPr sz="1200" b="1">
                <a:solidFill>
                  <a:srgbClr val="1B7F3A"/>
                </a:solidFill>
                <a:latin typeface="Arial"/>
              </a:rPr>
              <a:t>GROUP INFOGRAPHIC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2322576"/>
            <a:ext cx="9372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111827"/>
                </a:solidFill>
                <a:latin typeface="Arial"/>
              </a:rPr>
              <a:t>Challenge</a:t>
            </a:r>
          </a:p>
        </p:txBody>
      </p:sp>
      <p:sp>
        <p:nvSpPr>
          <p:cNvPr id="13" name="Oval 12"/>
          <p:cNvSpPr/>
          <p:nvPr/>
        </p:nvSpPr>
        <p:spPr>
          <a:xfrm>
            <a:off x="3520440" y="3264408"/>
            <a:ext cx="2331720" cy="1965960"/>
          </a:xfrm>
          <a:prstGeom prst="ellipse">
            <a:avLst/>
          </a:prstGeom>
          <a:solidFill>
            <a:srgbClr val="EEF2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94959" y="3264408"/>
            <a:ext cx="2331720" cy="1965960"/>
          </a:xfrm>
          <a:prstGeom prst="ellipse">
            <a:avLst/>
          </a:prstGeom>
          <a:solidFill>
            <a:srgbClr val="FEE2E2"/>
          </a:solidFill>
          <a:ln w="254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71800" y="3017520"/>
            <a:ext cx="5623560" cy="2450592"/>
          </a:xfrm>
          <a:prstGeom prst="roundRect">
            <a:avLst/>
          </a:prstGeom>
          <a:solidFill>
            <a:srgbClr val="FFFFFF"/>
          </a:solidFill>
          <a:ln w="11430"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1D4ED8"/>
                </a:solidFill>
                <a:latin typeface="Arial"/>
              </a:rPr>
              <a:t>In groups of five, learners count a pile of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995928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D90000"/>
                </a:solidFill>
                <a:latin typeface="Arial"/>
              </a:rPr>
              <a:t>Write the definitions of finite and infinite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4608576"/>
            <a:ext cx="109728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Arial"/>
              </a:rPr>
              <a:t>Draw two Venn diagrams. In the first, they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03320" y="5650992"/>
            <a:ext cx="5440680" cy="457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5769864"/>
            <a:ext cx="50749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D90000"/>
                </a:solidFill>
                <a:latin typeface="Arial"/>
              </a:rPr>
              <a:t>Share-out: explain one result, then improve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1118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13232"/>
            <a:ext cx="12191695" cy="82296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795528"/>
            <a:ext cx="12191695" cy="64008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859536"/>
            <a:ext cx="164592" cy="5998464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64592" y="6565392"/>
            <a:ext cx="12027103" cy="73152"/>
          </a:xfrm>
          <a:prstGeom prst="rect">
            <a:avLst/>
          </a:prstGeom>
          <a:solidFill>
            <a:srgbClr val="FCD1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64592" y="6638544"/>
            <a:ext cx="12027103" cy="45720"/>
          </a:xfrm>
          <a:prstGeom prst="rect">
            <a:avLst/>
          </a:prstGeom>
          <a:solidFill>
            <a:srgbClr val="D9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0312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Arial"/>
              </a:rPr>
              <a:t>8. EXIT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0" y="210312"/>
            <a:ext cx="40690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FFFFFF"/>
                </a:solidFill>
                <a:latin typeface="Arial"/>
              </a:rPr>
              <a:t>p7_t1_mathematics_0101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005840"/>
            <a:ext cx="11064240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11827"/>
                </a:solidFill>
                <a:latin typeface="Arial"/>
              </a:rPr>
              <a:t>Exit ticket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1783080"/>
            <a:ext cx="9921240" cy="4434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1600" rIns="101600" tIns="127000" bIns="38100"/>
          <a:lstStyle/>
          <a:p>
            <a:pPr algn="ctr"/>
            <a:r>
              <a:rPr sz="1500" b="1">
                <a:solidFill>
                  <a:srgbClr val="4338CA"/>
                </a:solidFill>
                <a:latin typeface="Arial"/>
              </a:rPr>
              <a:t>EXIT TICKET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2487168"/>
            <a:ext cx="8823960" cy="6583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2100" b="1">
                <a:solidFill>
                  <a:srgbClr val="111827"/>
                </a:solidFill>
                <a:latin typeface="Arial"/>
              </a:rPr>
              <a:t>Answer: Can a very large set still be finite? (Yes, if it has an end).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20240" y="3493008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920240" y="3977639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20240" y="4462272"/>
            <a:ext cx="8321040" cy="32004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91640" y="486460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complete sentence.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18464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475569"/>
                </a:solidFill>
                <a:latin typeface="Arial"/>
              </a:rPr>
              <a:t>Use one key word: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5504688"/>
            <a:ext cx="88239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D90000"/>
                </a:solidFill>
                <a:latin typeface="Arial"/>
              </a:rPr>
              <a:t>Hand in or read your answer aloud.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6355080"/>
            <a:ext cx="10835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0">
                <a:solidFill>
                  <a:srgbClr val="475569"/>
                </a:solidFill>
                <a:latin typeface="Arial"/>
              </a:rPr>
              <a:t>P7 class flow: listen • talk • try • explain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