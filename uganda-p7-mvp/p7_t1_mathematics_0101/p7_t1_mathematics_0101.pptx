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097280"/>
            <a:ext cx="1069848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400" b="1"/>
              <a:t>01 Sets (Set Concepts)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463040" y="2743200"/>
            <a:ext cx="932688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200"/>
              <a:t>Mathematics</a:t>
            </a:r>
          </a:p>
          <a:p>
            <a:pPr algn="ctr"/>
            <a:r>
              <a:rPr sz="2200"/>
              <a:t>By the end of the lesson, learners will be able to distinguish between finite and</a:t>
            </a:r>
          </a:p>
          <a:p>
            <a:pPr algn="ctr"/>
            <a:r>
              <a:rPr sz="2200"/>
              <a:t>infinite sets using practical examples from their environment.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Learning goal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1417320"/>
            <a:ext cx="10424160" cy="4892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/>
            </a:pPr>
            <a:r>
              <a:t>By the end of the lesson, learners will be able to distinguish between finite and</a:t>
            </a:r>
          </a:p>
          <a:p>
            <a:pPr>
              <a:spcAft>
                <a:spcPts val="800"/>
              </a:spcAft>
              <a:defRPr sz="2200"/>
            </a:pPr>
            <a:r>
              <a:t>infinite sets using practical examples from their environment.</a:t>
            </a:r>
          </a:p>
          <a:p>
            <a:pPr>
              <a:spcAft>
                <a:spcPts val="800"/>
              </a:spcAft>
              <a:defRPr sz="2200"/>
            </a:pPr>
            <a:r>
              <a:t>Key words: Finite, Infinite, Countable, Uncountable, Elements, Members, Ellipses.</a:t>
            </a:r>
          </a:p>
          <a:p>
            <a:pPr>
              <a:spcAft>
                <a:spcPts val="800"/>
              </a:spcAft>
              <a:defRPr sz="2200"/>
            </a:pPr>
            <a:r>
              <a:t>Lesson focus: 01 Sets (Set Concepts)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Can We Count Everything?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1417320"/>
            <a:ext cx="10424160" cy="4892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/>
            </a:pPr>
            <a:r>
              <a:t>Practical counting of stones.</a:t>
            </a:r>
          </a:p>
          <a:p>
            <a:pPr>
              <a:spcAft>
                <a:spcPts val="800"/>
              </a:spcAft>
              <a:defRPr sz="2200"/>
            </a:pPr>
            <a:r>
              <a:t>Attempting to count grains of sand.</a:t>
            </a:r>
          </a:p>
          <a:p>
            <a:pPr>
              <a:spcAft>
                <a:spcPts val="800"/>
              </a:spcAft>
              <a:defRPr sz="2200"/>
            </a:pPr>
            <a:r>
              <a:t>Identifying which count can be finished.</a:t>
            </a:r>
          </a:p>
          <a:p>
            <a:pPr>
              <a:spcAft>
                <a:spcPts val="800"/>
              </a:spcAft>
              <a:defRPr sz="2200"/>
            </a:pPr>
            <a:r>
              <a:t>Group activity with local materials.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Defining Our Sets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1417320"/>
            <a:ext cx="10424160" cy="4892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/>
            </a:pPr>
            <a:r>
              <a:t>Finite Set: Has a countable number of members.</a:t>
            </a:r>
          </a:p>
          <a:p>
            <a:pPr>
              <a:spcAft>
                <a:spcPts val="800"/>
              </a:spcAft>
              <a:defRPr sz="2200"/>
            </a:pPr>
            <a:r>
              <a:t>Infinite Set: Has members that go on forever.</a:t>
            </a:r>
          </a:p>
          <a:p>
            <a:pPr>
              <a:spcAft>
                <a:spcPts val="800"/>
              </a:spcAft>
              <a:defRPr sz="2200"/>
            </a:pPr>
            <a:r>
              <a:t>Examples from daily life.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Drawing Our Sets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1417320"/>
            <a:ext cx="10424160" cy="4892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/>
            </a:pPr>
            <a:r>
              <a:t>Representing finite sets with all members.</a:t>
            </a:r>
          </a:p>
          <a:p>
            <a:pPr>
              <a:spcAft>
                <a:spcPts val="800"/>
              </a:spcAft>
              <a:defRPr sz="2200"/>
            </a:pPr>
            <a:r>
              <a:t>Representing infinite sets with patterns.</a:t>
            </a:r>
          </a:p>
          <a:p>
            <a:pPr>
              <a:spcAft>
                <a:spcPts val="800"/>
              </a:spcAft>
              <a:defRPr sz="2200"/>
            </a:pPr>
            <a:r>
              <a:t>Using circles to group elements.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Mathematical Symbols for Sets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1417320"/>
            <a:ext cx="10424160" cy="4892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/>
            </a:pPr>
            <a:r>
              <a:t>Using curly braces { }.</a:t>
            </a:r>
          </a:p>
          <a:p>
            <a:pPr>
              <a:spcAft>
                <a:spcPts val="800"/>
              </a:spcAft>
              <a:defRPr sz="2200"/>
            </a:pPr>
            <a:r>
              <a:t>The "..." symbol (Ellipses).</a:t>
            </a:r>
          </a:p>
          <a:p>
            <a:pPr>
              <a:spcAft>
                <a:spcPts val="800"/>
              </a:spcAft>
              <a:defRPr sz="2200"/>
            </a:pPr>
            <a:r>
              <a:t>Writing sets of numbers.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Test Your Knowledge!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1417320"/>
            <a:ext cx="10424160" cy="4892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/>
            </a:pPr>
            <a:r>
              <a:t>Sorting list of sets.</a:t>
            </a:r>
          </a:p>
          <a:p>
            <a:pPr>
              <a:spcAft>
                <a:spcPts val="800"/>
              </a:spcAft>
              <a:defRPr sz="2200"/>
            </a:pPr>
            <a:r>
              <a:t>Justifying why a set is infinite.</a:t>
            </a:r>
          </a:p>
          <a:p>
            <a:pPr>
              <a:spcAft>
                <a:spcPts val="800"/>
              </a:spcAft>
              <a:defRPr sz="2200"/>
            </a:pPr>
            <a:r>
              <a:t>Real-life Ugandan examples.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Check your understanding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1417320"/>
            <a:ext cx="10424160" cy="4892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/>
            </a:pPr>
            <a:r>
              <a:t>Can you tell me exactly how many grains are in that pile of sand?</a:t>
            </a:r>
          </a:p>
          <a:p>
            <a:pPr>
              <a:spcAft>
                <a:spcPts val="800"/>
              </a:spcAft>
              <a:defRPr sz="2200"/>
            </a:pPr>
            <a:r>
              <a:t>Which count was easier to finish?</a:t>
            </a:r>
          </a:p>
          <a:p>
            <a:pPr>
              <a:spcAft>
                <a:spcPts val="800"/>
              </a:spcAft>
              <a:defRPr sz="2200"/>
            </a:pPr>
            <a:r>
              <a:t>What is a finite set?</a:t>
            </a:r>
          </a:p>
          <a:p>
            <a:pPr>
              <a:spcAft>
                <a:spcPts val="800"/>
              </a:spcAft>
              <a:defRPr sz="2200"/>
            </a:pPr>
            <a:r>
              <a:t>What is an infinite set?</a:t>
            </a:r>
          </a:p>
          <a:p>
            <a:pPr>
              <a:spcAft>
                <a:spcPts val="800"/>
              </a:spcAft>
              <a:defRPr sz="2200"/>
            </a:pPr>
            <a:r>
              <a:t>Write one answer clearly in your notebook.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