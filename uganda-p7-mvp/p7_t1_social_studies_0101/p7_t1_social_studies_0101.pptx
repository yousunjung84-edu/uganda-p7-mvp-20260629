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1695" cy="82296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95528"/>
            <a:ext cx="12191695" cy="64008"/>
          </a:xfrm>
          <a:prstGeom prst="rect">
            <a:avLst/>
          </a:prstGeom>
          <a:solidFill>
            <a:srgbClr val="D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59536"/>
            <a:ext cx="164592" cy="59984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10312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rial"/>
              </a:rPr>
              <a:t>UGANDA P7 LESSON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210312"/>
            <a:ext cx="4069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Arial"/>
              </a:rPr>
              <a:t>p7_t1_social_studies_0101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07008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111827"/>
                </a:solidFill>
                <a:latin typeface="Arial"/>
              </a:rPr>
              <a:t>1.0 Living Together in Africa</a:t>
            </a:r>
          </a:p>
        </p:txBody>
      </p:sp>
      <p:sp>
        <p:nvSpPr>
          <p:cNvPr id="9" name="Rectangle 8"/>
          <p:cNvSpPr/>
          <p:nvPr/>
        </p:nvSpPr>
        <p:spPr>
          <a:xfrm>
            <a:off x="1143000" y="2423160"/>
            <a:ext cx="9921240" cy="2423160"/>
          </a:xfrm>
          <a:prstGeom prst="rect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3040" y="2743200"/>
            <a:ext cx="92811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D4ED8"/>
                </a:solidFill>
                <a:latin typeface="Arial"/>
              </a:rPr>
              <a:t>Social Studies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355848"/>
            <a:ext cx="89154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111827"/>
                </a:solidFill>
                <a:latin typeface="Arial"/>
              </a:rPr>
              <a:t>Big question: What is the name of our country?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5074920"/>
            <a:ext cx="9921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475569"/>
                </a:solidFill>
                <a:latin typeface="Arial"/>
              </a:rPr>
              <a:t>Think silently → pair talk → share one idea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1695" cy="82296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95528"/>
            <a:ext cx="12191695" cy="64008"/>
          </a:xfrm>
          <a:prstGeom prst="rect">
            <a:avLst/>
          </a:prstGeom>
          <a:solidFill>
            <a:srgbClr val="D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59536"/>
            <a:ext cx="164592" cy="5998464"/>
          </a:xfrm>
          <a:prstGeom prst="rect">
            <a:avLst/>
          </a:prstGeom>
          <a:solidFill>
            <a:srgbClr val="1B7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10312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rial"/>
              </a:rPr>
              <a:t>2. 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210312"/>
            <a:ext cx="4069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Arial"/>
              </a:rPr>
              <a:t>p7_t1_social_studies_0101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042415"/>
            <a:ext cx="111099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111827"/>
                </a:solidFill>
                <a:latin typeface="Arial"/>
              </a:rPr>
              <a:t>Today's mission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74519"/>
            <a:ext cx="10835640" cy="804672"/>
          </a:xfrm>
          <a:prstGeom prst="rect">
            <a:avLst/>
          </a:prstGeom>
          <a:solidFill>
            <a:srgbClr val="FFF7E0"/>
          </a:solidFill>
          <a:ln w="17780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/>
            <a:r>
              <a:rPr sz="1900" b="1">
                <a:solidFill>
                  <a:srgbClr val="111827"/>
                </a:solidFill>
                <a:latin typeface="Arial"/>
              </a:rPr>
              <a:t>Goal: Students will identify the location of Africa in relati...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2971800"/>
            <a:ext cx="10378440" cy="713232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2971800"/>
            <a:ext cx="530352" cy="713232"/>
          </a:xfrm>
          <a:prstGeom prst="rect">
            <a:avLst/>
          </a:prstGeom>
          <a:solidFill>
            <a:srgbClr val="1B7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3118104"/>
            <a:ext cx="9372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111827"/>
                </a:solidFill>
                <a:latin typeface="Arial"/>
              </a:rPr>
              <a:t>You will use: Where is Our Home?, The Seven Continents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3822191"/>
            <a:ext cx="10378440" cy="713232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8680" y="3822191"/>
            <a:ext cx="530352" cy="713232"/>
          </a:xfrm>
          <a:prstGeom prst="rect">
            <a:avLst/>
          </a:prstGeom>
          <a:solidFill>
            <a:srgbClr val="1B7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3968496"/>
            <a:ext cx="9372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111827"/>
                </a:solidFill>
                <a:latin typeface="Arial"/>
              </a:rPr>
              <a:t>Success: explain, try, and answer in your own words.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4672584"/>
            <a:ext cx="10378440" cy="713232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4672584"/>
            <a:ext cx="530352" cy="713232"/>
          </a:xfrm>
          <a:prstGeom prst="rect">
            <a:avLst/>
          </a:prstGeom>
          <a:solidFill>
            <a:srgbClr val="1B7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2768" y="4818888"/>
            <a:ext cx="9372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111827"/>
                </a:solidFill>
                <a:latin typeface="Arial"/>
              </a:rPr>
              <a:t>Write one clear response.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5522976"/>
            <a:ext cx="10378440" cy="713232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68680" y="5522976"/>
            <a:ext cx="530352" cy="713232"/>
          </a:xfrm>
          <a:prstGeom prst="rect">
            <a:avLst/>
          </a:prstGeom>
          <a:solidFill>
            <a:srgbClr val="1B7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72768" y="5669280"/>
            <a:ext cx="9372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111827"/>
                </a:solidFill>
                <a:latin typeface="Arial"/>
              </a:rPr>
              <a:t>Write one clear response.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419088"/>
            <a:ext cx="10835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rial"/>
              </a:rPr>
              <a:t>Listen • Talk • Try • Explain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1695" cy="82296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95528"/>
            <a:ext cx="12191695" cy="64008"/>
          </a:xfrm>
          <a:prstGeom prst="rect">
            <a:avLst/>
          </a:prstGeom>
          <a:solidFill>
            <a:srgbClr val="D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59536"/>
            <a:ext cx="164592" cy="59984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10312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rial"/>
              </a:rPr>
              <a:t>3. STARTER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210312"/>
            <a:ext cx="4069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Arial"/>
              </a:rPr>
              <a:t>p7_t1_social_studies_0101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042415"/>
            <a:ext cx="111099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111827"/>
                </a:solidFill>
                <a:latin typeface="Arial"/>
              </a:rPr>
              <a:t>Starter: think first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74519"/>
            <a:ext cx="10835640" cy="804672"/>
          </a:xfrm>
          <a:prstGeom prst="rect">
            <a:avLst/>
          </a:prstGeom>
          <a:solidFill>
            <a:srgbClr val="FFF7E0"/>
          </a:solidFill>
          <a:ln w="1778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/>
            <a:r>
              <a:rPr sz="1900" b="1">
                <a:solidFill>
                  <a:srgbClr val="111827"/>
                </a:solidFill>
                <a:latin typeface="Arial"/>
              </a:rPr>
              <a:t>Think: What is the name of our country?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2971800"/>
            <a:ext cx="10378440" cy="713232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2971800"/>
            <a:ext cx="530352" cy="7132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3118104"/>
            <a:ext cx="9372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111827"/>
                </a:solidFill>
                <a:latin typeface="Arial"/>
              </a:rPr>
              <a:t>Pair: compare your first answer with a partner.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3822191"/>
            <a:ext cx="10378440" cy="713232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8680" y="3822191"/>
            <a:ext cx="530352" cy="7132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3968496"/>
            <a:ext cx="9372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111827"/>
                </a:solidFill>
                <a:latin typeface="Arial"/>
              </a:rPr>
              <a:t>Share: connect your answer to Where is Our Home?.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4672584"/>
            <a:ext cx="10378440" cy="713232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4672584"/>
            <a:ext cx="530352" cy="7132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2768" y="4818888"/>
            <a:ext cx="9372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111827"/>
                </a:solidFill>
                <a:latin typeface="Arial"/>
              </a:rPr>
              <a:t>Write one clear response.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5522976"/>
            <a:ext cx="10378440" cy="713232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68680" y="5522976"/>
            <a:ext cx="530352" cy="7132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72768" y="5669280"/>
            <a:ext cx="9372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111827"/>
                </a:solidFill>
                <a:latin typeface="Arial"/>
              </a:rPr>
              <a:t>Write one clear response.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419088"/>
            <a:ext cx="10835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rial"/>
              </a:rPr>
              <a:t>Listen • Talk • Try • Explain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1695" cy="82296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95528"/>
            <a:ext cx="12191695" cy="64008"/>
          </a:xfrm>
          <a:prstGeom prst="rect">
            <a:avLst/>
          </a:prstGeom>
          <a:solidFill>
            <a:srgbClr val="D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59536"/>
            <a:ext cx="164592" cy="5998464"/>
          </a:xfrm>
          <a:prstGeom prst="rect">
            <a:avLst/>
          </a:prstGeom>
          <a:solidFill>
            <a:srgbClr val="08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10312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rial"/>
              </a:rPr>
              <a:t>4. CONCEPT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210312"/>
            <a:ext cx="4069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Arial"/>
              </a:rPr>
              <a:t>p7_t1_social_studies_0101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042415"/>
            <a:ext cx="111099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111827"/>
                </a:solidFill>
                <a:latin typeface="Arial"/>
              </a:rPr>
              <a:t>Where is Our Home?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74519"/>
            <a:ext cx="10835640" cy="804672"/>
          </a:xfrm>
          <a:prstGeom prst="rect">
            <a:avLst/>
          </a:prstGeom>
          <a:solidFill>
            <a:srgbClr val="FFF7E0"/>
          </a:solidFill>
          <a:ln w="17780">
            <a:solidFill>
              <a:srgbClr val="08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/>
            <a:r>
              <a:rPr sz="1900" b="1">
                <a:solidFill>
                  <a:srgbClr val="111827"/>
                </a:solidFill>
                <a:latin typeface="Arial"/>
              </a:rPr>
              <a:t>Key idea: Connecting personal knowledge of local location to the...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2971800"/>
            <a:ext cx="10378440" cy="713232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2971800"/>
            <a:ext cx="530352" cy="713232"/>
          </a:xfrm>
          <a:prstGeom prst="rect">
            <a:avLst/>
          </a:prstGeom>
          <a:solidFill>
            <a:srgbClr val="08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3118104"/>
            <a:ext cx="9372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111827"/>
                </a:solidFill>
                <a:latin typeface="Arial"/>
              </a:rPr>
              <a:t>We live in Uganda.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3822191"/>
            <a:ext cx="10378440" cy="713232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8680" y="3822191"/>
            <a:ext cx="530352" cy="713232"/>
          </a:xfrm>
          <a:prstGeom prst="rect">
            <a:avLst/>
          </a:prstGeom>
          <a:solidFill>
            <a:srgbClr val="08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3968496"/>
            <a:ext cx="9372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111827"/>
                </a:solidFill>
                <a:latin typeface="Arial"/>
              </a:rPr>
              <a:t>Uganda is a country in East Africa.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4672584"/>
            <a:ext cx="10378440" cy="713232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4672584"/>
            <a:ext cx="530352" cy="713232"/>
          </a:xfrm>
          <a:prstGeom prst="rect">
            <a:avLst/>
          </a:prstGeom>
          <a:solidFill>
            <a:srgbClr val="08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2768" y="4818888"/>
            <a:ext cx="9372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111827"/>
                </a:solidFill>
                <a:latin typeface="Arial"/>
              </a:rPr>
              <a:t>Africa is a large continent on the Earth.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5522976"/>
            <a:ext cx="10378440" cy="713232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68680" y="5522976"/>
            <a:ext cx="530352" cy="713232"/>
          </a:xfrm>
          <a:prstGeom prst="rect">
            <a:avLst/>
          </a:prstGeom>
          <a:solidFill>
            <a:srgbClr val="08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72768" y="5669280"/>
            <a:ext cx="9372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111827"/>
                </a:solidFill>
                <a:latin typeface="Arial"/>
              </a:rPr>
              <a:t>Write one clear response.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419088"/>
            <a:ext cx="10835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rial"/>
              </a:rPr>
              <a:t>Listen • Talk • Try • Explain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1695" cy="82296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95528"/>
            <a:ext cx="12191695" cy="64008"/>
          </a:xfrm>
          <a:prstGeom prst="rect">
            <a:avLst/>
          </a:prstGeom>
          <a:solidFill>
            <a:srgbClr val="D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59536"/>
            <a:ext cx="164592" cy="59984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10312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rial"/>
              </a:rPr>
              <a:t>5.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210312"/>
            <a:ext cx="4069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Arial"/>
              </a:rPr>
              <a:t>p7_t1_social_studies_0101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042415"/>
            <a:ext cx="111099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111827"/>
                </a:solidFill>
                <a:latin typeface="Arial"/>
              </a:rPr>
              <a:t>The Seven Continents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74519"/>
            <a:ext cx="10835640" cy="804672"/>
          </a:xfrm>
          <a:prstGeom prst="rect">
            <a:avLst/>
          </a:prstGeom>
          <a:solidFill>
            <a:srgbClr val="FFF7E0"/>
          </a:solidFill>
          <a:ln w="1778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/>
            <a:r>
              <a:rPr sz="1900" b="1">
                <a:solidFill>
                  <a:srgbClr val="111827"/>
                </a:solidFill>
                <a:latin typeface="Arial"/>
              </a:rPr>
              <a:t>Model the example step by step.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2971800"/>
            <a:ext cx="10378440" cy="713232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2971800"/>
            <a:ext cx="530352" cy="7132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3118104"/>
            <a:ext cx="9372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111827"/>
                </a:solidFill>
                <a:latin typeface="Arial"/>
              </a:rPr>
              <a:t>THE 7 CONTINENTS (By Size):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3822191"/>
            <a:ext cx="10378440" cy="713232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8680" y="3822191"/>
            <a:ext cx="530352" cy="7132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3968496"/>
            <a:ext cx="9372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111827"/>
                </a:solidFill>
                <a:latin typeface="Arial"/>
              </a:rPr>
              <a:t>1. Asia (Largest)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4672584"/>
            <a:ext cx="10378440" cy="713232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4672584"/>
            <a:ext cx="530352" cy="7132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2768" y="4818888"/>
            <a:ext cx="9372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111827"/>
                </a:solidFill>
                <a:latin typeface="Arial"/>
              </a:rPr>
              <a:t>2. AFRICA (2nd Largest)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5522976"/>
            <a:ext cx="10378440" cy="713232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68680" y="5522976"/>
            <a:ext cx="530352" cy="7132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72768" y="5669280"/>
            <a:ext cx="9372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111827"/>
                </a:solidFill>
                <a:latin typeface="Arial"/>
              </a:rPr>
              <a:t>Write one clear response.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419088"/>
            <a:ext cx="10835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rial"/>
              </a:rPr>
              <a:t>Listen • Talk • Try • Explain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1695" cy="82296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95528"/>
            <a:ext cx="12191695" cy="64008"/>
          </a:xfrm>
          <a:prstGeom prst="rect">
            <a:avLst/>
          </a:prstGeom>
          <a:solidFill>
            <a:srgbClr val="D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59536"/>
            <a:ext cx="164592" cy="5998464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10312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rial"/>
              </a:rPr>
              <a:t>6.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210312"/>
            <a:ext cx="4069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Arial"/>
              </a:rPr>
              <a:t>p7_t1_social_studies_0101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042415"/>
            <a:ext cx="111099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111827"/>
                </a:solidFill>
                <a:latin typeface="Arial"/>
              </a:rPr>
              <a:t>Try it together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74519"/>
            <a:ext cx="10835640" cy="804672"/>
          </a:xfrm>
          <a:prstGeom prst="rect">
            <a:avLst/>
          </a:prstGeom>
          <a:solidFill>
            <a:srgbClr val="FFF7E0"/>
          </a:solidFill>
          <a:ln w="1778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/>
            <a:r>
              <a:rPr sz="1900" b="1">
                <a:solidFill>
                  <a:srgbClr val="111827"/>
                </a:solidFill>
                <a:latin typeface="Arial"/>
              </a:rPr>
              <a:t>In which continent is Uganda found?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2971800"/>
            <a:ext cx="10378440" cy="713232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2971800"/>
            <a:ext cx="530352" cy="713232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3118104"/>
            <a:ext cx="9372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111827"/>
                </a:solidFill>
                <a:latin typeface="Arial"/>
              </a:rPr>
              <a:t>Is Africa a country or a continent?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3822191"/>
            <a:ext cx="10378440" cy="713232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8680" y="3822191"/>
            <a:ext cx="530352" cy="713232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3968496"/>
            <a:ext cx="9372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111827"/>
                </a:solidFill>
                <a:latin typeface="Arial"/>
              </a:rPr>
              <a:t>How many continents are there in the world?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4672584"/>
            <a:ext cx="10378440" cy="713232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4672584"/>
            <a:ext cx="530352" cy="713232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2768" y="4818888"/>
            <a:ext cx="9372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111827"/>
                </a:solidFill>
                <a:latin typeface="Arial"/>
              </a:rPr>
              <a:t>Agree on one answer before writing.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5522976"/>
            <a:ext cx="10378440" cy="713232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68680" y="5522976"/>
            <a:ext cx="530352" cy="713232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72768" y="5669280"/>
            <a:ext cx="9372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111827"/>
                </a:solidFill>
                <a:latin typeface="Arial"/>
              </a:rPr>
              <a:t>Write one clear response.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419088"/>
            <a:ext cx="10835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rial"/>
              </a:rPr>
              <a:t>Listen • Talk • Try • Explain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1695" cy="82296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95528"/>
            <a:ext cx="12191695" cy="64008"/>
          </a:xfrm>
          <a:prstGeom prst="rect">
            <a:avLst/>
          </a:prstGeom>
          <a:solidFill>
            <a:srgbClr val="D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59536"/>
            <a:ext cx="164592" cy="5998464"/>
          </a:xfrm>
          <a:prstGeom prst="rect">
            <a:avLst/>
          </a:prstGeom>
          <a:solidFill>
            <a:srgbClr val="1B7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10312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rial"/>
              </a:rPr>
              <a:t>7. ACTIVITY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210312"/>
            <a:ext cx="4069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Arial"/>
              </a:rPr>
              <a:t>p7_t1_social_studies_0101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042415"/>
            <a:ext cx="111099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111827"/>
                </a:solidFill>
                <a:latin typeface="Arial"/>
              </a:rPr>
              <a:t>Activity challenge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74519"/>
            <a:ext cx="10835640" cy="804672"/>
          </a:xfrm>
          <a:prstGeom prst="rect">
            <a:avLst/>
          </a:prstGeom>
          <a:solidFill>
            <a:srgbClr val="FFF7E0"/>
          </a:solidFill>
          <a:ln w="17780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/>
            <a:r>
              <a:rPr sz="1900" b="1">
                <a:solidFill>
                  <a:srgbClr val="111827"/>
                </a:solidFill>
                <a:latin typeface="Arial"/>
              </a:rPr>
              <a:t>Group task: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2971800"/>
            <a:ext cx="10378440" cy="713232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2971800"/>
            <a:ext cx="530352" cy="713232"/>
          </a:xfrm>
          <a:prstGeom prst="rect">
            <a:avLst/>
          </a:prstGeom>
          <a:solidFill>
            <a:srgbClr val="1B7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3118104"/>
            <a:ext cx="9372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111827"/>
                </a:solidFill>
                <a:latin typeface="Arial"/>
              </a:rPr>
              <a:t>Students turn to a partner and discuss if they have ever seen a m...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3822191"/>
            <a:ext cx="10378440" cy="713232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8680" y="3822191"/>
            <a:ext cx="530352" cy="713232"/>
          </a:xfrm>
          <a:prstGeom prst="rect">
            <a:avLst/>
          </a:prstGeom>
          <a:solidFill>
            <a:srgbClr val="1B7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3968496"/>
            <a:ext cx="9372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111827"/>
                </a:solidFill>
                <a:latin typeface="Arial"/>
              </a:rPr>
              <a:t>Students look at the wall map and point to each continent as the...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4672584"/>
            <a:ext cx="10378440" cy="713232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4672584"/>
            <a:ext cx="530352" cy="713232"/>
          </a:xfrm>
          <a:prstGeom prst="rect">
            <a:avLst/>
          </a:prstGeom>
          <a:solidFill>
            <a:srgbClr val="1B7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2768" y="4818888"/>
            <a:ext cx="9372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111827"/>
                </a:solidFill>
                <a:latin typeface="Arial"/>
              </a:rPr>
              <a:t>In small groups, learners use their Atlases to find and list the...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5522976"/>
            <a:ext cx="10378440" cy="713232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68680" y="5522976"/>
            <a:ext cx="530352" cy="713232"/>
          </a:xfrm>
          <a:prstGeom prst="rect">
            <a:avLst/>
          </a:prstGeom>
          <a:solidFill>
            <a:srgbClr val="1B7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72768" y="5669280"/>
            <a:ext cx="9372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111827"/>
                </a:solidFill>
                <a:latin typeface="Arial"/>
              </a:rPr>
              <a:t>Write one clear response.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419088"/>
            <a:ext cx="10835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rial"/>
              </a:rPr>
              <a:t>Listen • Talk • Try • Explain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1695" cy="82296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95528"/>
            <a:ext cx="12191695" cy="64008"/>
          </a:xfrm>
          <a:prstGeom prst="rect">
            <a:avLst/>
          </a:prstGeom>
          <a:solidFill>
            <a:srgbClr val="D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59536"/>
            <a:ext cx="164592" cy="5998464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10312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rial"/>
              </a:rPr>
              <a:t>8. EXIT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210312"/>
            <a:ext cx="4069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Arial"/>
              </a:rPr>
              <a:t>p7_t1_social_studies_0101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042415"/>
            <a:ext cx="111099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111827"/>
                </a:solidFill>
                <a:latin typeface="Arial"/>
              </a:rPr>
              <a:t>Exit ticket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74519"/>
            <a:ext cx="10835640" cy="804672"/>
          </a:xfrm>
          <a:prstGeom prst="rect">
            <a:avLst/>
          </a:prstGeom>
          <a:solidFill>
            <a:srgbClr val="FFF7E0"/>
          </a:solidFill>
          <a:ln w="1778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/>
            <a:r>
              <a:rPr sz="1900" b="1">
                <a:solidFill>
                  <a:srgbClr val="111827"/>
                </a:solidFill>
                <a:latin typeface="Arial"/>
              </a:rPr>
              <a:t>Answer: Which ocean did you put to the East?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2971800"/>
            <a:ext cx="10378440" cy="713232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2971800"/>
            <a:ext cx="530352" cy="713232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3118104"/>
            <a:ext cx="9372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111827"/>
                </a:solidFill>
                <a:latin typeface="Arial"/>
              </a:rPr>
              <a:t>Use one complete sentence.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3822191"/>
            <a:ext cx="10378440" cy="713232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8680" y="3822191"/>
            <a:ext cx="530352" cy="713232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3968496"/>
            <a:ext cx="9372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111827"/>
                </a:solidFill>
                <a:latin typeface="Arial"/>
              </a:rPr>
              <a:t>Hand in or read your answer aloud.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4672584"/>
            <a:ext cx="10378440" cy="713232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4672584"/>
            <a:ext cx="530352" cy="713232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2768" y="4818888"/>
            <a:ext cx="9372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111827"/>
                </a:solidFill>
                <a:latin typeface="Arial"/>
              </a:rPr>
              <a:t>Write one clear response.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5522976"/>
            <a:ext cx="10378440" cy="713232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68680" y="5522976"/>
            <a:ext cx="530352" cy="713232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72768" y="5669280"/>
            <a:ext cx="9372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111827"/>
                </a:solidFill>
                <a:latin typeface="Arial"/>
              </a:rPr>
              <a:t>Write one clear response.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419088"/>
            <a:ext cx="10835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rial"/>
              </a:rPr>
              <a:t>Listen • Talk • Try • Explain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