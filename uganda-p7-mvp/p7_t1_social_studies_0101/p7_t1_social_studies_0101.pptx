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1. 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987552"/>
            <a:ext cx="10835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1.0 Living Together in Africa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D4ED8"/>
                </a:solidFill>
                <a:latin typeface="Arial"/>
              </a:rPr>
              <a:t>OPENING VISUAL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286000"/>
            <a:ext cx="9372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What is the name of our country?</a:t>
            </a:r>
          </a:p>
        </p:txBody>
      </p:sp>
      <p:sp>
        <p:nvSpPr>
          <p:cNvPr id="13" name="Oval 12"/>
          <p:cNvSpPr/>
          <p:nvPr/>
        </p:nvSpPr>
        <p:spPr>
          <a:xfrm>
            <a:off x="2130552" y="3931920"/>
            <a:ext cx="1133856" cy="1133856"/>
          </a:xfrm>
          <a:prstGeom prst="ellipse">
            <a:avLst/>
          </a:prstGeom>
          <a:solidFill>
            <a:srgbClr val="FFF7E0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20240" y="5212080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Think alone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91840" y="4498848"/>
            <a:ext cx="960119" cy="0"/>
          </a:xfrm>
          <a:prstGeom prst="line">
            <a:avLst/>
          </a:prstGeom>
          <a:ln w="2286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4279392" y="3931920"/>
            <a:ext cx="1133856" cy="1133856"/>
          </a:xfrm>
          <a:prstGeom prst="ellipse">
            <a:avLst/>
          </a:prstGeom>
          <a:solidFill>
            <a:srgbClr val="FCD116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80" y="5212080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Pair talk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40680" y="4498848"/>
            <a:ext cx="960119" cy="0"/>
          </a:xfrm>
          <a:prstGeom prst="line">
            <a:avLst/>
          </a:prstGeom>
          <a:ln w="2286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6428231" y="3931920"/>
            <a:ext cx="1133856" cy="1133856"/>
          </a:xfrm>
          <a:prstGeom prst="ellipse">
            <a:avLst/>
          </a:prstGeom>
          <a:solidFill>
            <a:srgbClr val="1B7F3A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5212080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Share one idea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89519" y="4498848"/>
            <a:ext cx="960121" cy="0"/>
          </a:xfrm>
          <a:prstGeom prst="line">
            <a:avLst/>
          </a:prstGeom>
          <a:ln w="2286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8577072" y="3931920"/>
            <a:ext cx="1133856" cy="1133856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5212080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Africa</a:t>
            </a:r>
          </a:p>
        </p:txBody>
      </p:sp>
      <p:sp>
        <p:nvSpPr>
          <p:cNvPr id="24" name="Oval 23"/>
          <p:cNvSpPr/>
          <p:nvPr/>
        </p:nvSpPr>
        <p:spPr>
          <a:xfrm>
            <a:off x="9875519" y="2898648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10378440" y="3059582"/>
            <a:ext cx="0" cy="683971"/>
          </a:xfrm>
          <a:prstGeom prst="line">
            <a:avLst/>
          </a:prstGeom>
          <a:ln w="2159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036454" y="3401568"/>
            <a:ext cx="683971" cy="0"/>
          </a:xfrm>
          <a:prstGeom prst="line">
            <a:avLst/>
          </a:prstGeom>
          <a:ln w="2159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277855" y="2697479"/>
            <a:ext cx="20116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11827"/>
                </a:solidFill>
                <a:latin typeface="Arial"/>
              </a:rPr>
              <a:t>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Students will identify the location of Africa in relation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1  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Use: Where is Our Home?, The Seven Continents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6616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6732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2  Practise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Show: answer with one reason or example.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7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7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3  Show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7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Routine: listen, talk, try, explain.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399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399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4  Reflect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59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Explain in your own words.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234025" y="5409590"/>
            <a:ext cx="1331366" cy="3703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90057" y="5475427"/>
            <a:ext cx="460857" cy="98755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27724" y="5607100"/>
            <a:ext cx="384048" cy="8229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62979" y="5376672"/>
            <a:ext cx="460857" cy="148132"/>
          </a:xfrm>
          <a:prstGeom prst="ellipse">
            <a:avLst/>
          </a:prstGeom>
          <a:solidFill>
            <a:srgbClr val="FFFFFF"/>
          </a:solidFill>
          <a:ln w="101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2996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What is the name of our country?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30 seconds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compare your first answer with a partner.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with partner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3660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SHARE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connect your answer to Where is Our Home?.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whole class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Where is Our Home?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087490"/>
                </a:solidFill>
                <a:latin typeface="Arial"/>
              </a:rPr>
              <a:t>CONTENT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286000"/>
            <a:ext cx="9372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Connecting personal knowledge of local</a:t>
            </a:r>
          </a:p>
        </p:txBody>
      </p:sp>
      <p:sp>
        <p:nvSpPr>
          <p:cNvPr id="13" name="Oval 12"/>
          <p:cNvSpPr/>
          <p:nvPr/>
        </p:nvSpPr>
        <p:spPr>
          <a:xfrm>
            <a:off x="2130552" y="3931920"/>
            <a:ext cx="1133856" cy="1133856"/>
          </a:xfrm>
          <a:prstGeom prst="ellipse">
            <a:avLst/>
          </a:prstGeom>
          <a:solidFill>
            <a:srgbClr val="FFF7E0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20240" y="5212080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We live in Uganda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91840" y="4498848"/>
            <a:ext cx="960119" cy="0"/>
          </a:xfrm>
          <a:prstGeom prst="line">
            <a:avLst/>
          </a:prstGeom>
          <a:ln w="2286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4279392" y="3931920"/>
            <a:ext cx="1133856" cy="1133856"/>
          </a:xfrm>
          <a:prstGeom prst="ellipse">
            <a:avLst/>
          </a:prstGeom>
          <a:solidFill>
            <a:srgbClr val="FCD116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80" y="5212080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Uganda is a country in East Africa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40680" y="4498848"/>
            <a:ext cx="960119" cy="0"/>
          </a:xfrm>
          <a:prstGeom prst="line">
            <a:avLst/>
          </a:prstGeom>
          <a:ln w="2286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6428231" y="3931920"/>
            <a:ext cx="1133856" cy="1133856"/>
          </a:xfrm>
          <a:prstGeom prst="ellipse">
            <a:avLst/>
          </a:prstGeom>
          <a:solidFill>
            <a:srgbClr val="1B7F3A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5212080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Africa is a large continent on the Earth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89519" y="4498848"/>
            <a:ext cx="960121" cy="0"/>
          </a:xfrm>
          <a:prstGeom prst="line">
            <a:avLst/>
          </a:prstGeom>
          <a:ln w="2286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8577072" y="3931920"/>
            <a:ext cx="1133856" cy="1133856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5212080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Africa</a:t>
            </a:r>
          </a:p>
        </p:txBody>
      </p:sp>
      <p:sp>
        <p:nvSpPr>
          <p:cNvPr id="24" name="Oval 23"/>
          <p:cNvSpPr/>
          <p:nvPr/>
        </p:nvSpPr>
        <p:spPr>
          <a:xfrm>
            <a:off x="9875519" y="2898648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10378440" y="3059582"/>
            <a:ext cx="0" cy="683971"/>
          </a:xfrm>
          <a:prstGeom prst="line">
            <a:avLst/>
          </a:prstGeom>
          <a:ln w="21590">
            <a:solidFill>
              <a:srgbClr val="0874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036454" y="3401568"/>
            <a:ext cx="683971" cy="0"/>
          </a:xfrm>
          <a:prstGeom prst="line">
            <a:avLst/>
          </a:prstGeom>
          <a:ln w="2159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277855" y="2697479"/>
            <a:ext cx="20116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11827"/>
                </a:solidFill>
                <a:latin typeface="Arial"/>
              </a:rPr>
              <a:t>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The Seven Continents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D97706"/>
                </a:solidFill>
                <a:latin typeface="Arial"/>
              </a:rPr>
              <a:t>MODEL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286000"/>
            <a:ext cx="9372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Worked example</a:t>
            </a:r>
          </a:p>
        </p:txBody>
      </p:sp>
      <p:sp>
        <p:nvSpPr>
          <p:cNvPr id="13" name="Oval 12"/>
          <p:cNvSpPr/>
          <p:nvPr/>
        </p:nvSpPr>
        <p:spPr>
          <a:xfrm>
            <a:off x="2130552" y="3931920"/>
            <a:ext cx="1133856" cy="1133856"/>
          </a:xfrm>
          <a:prstGeom prst="ellipse">
            <a:avLst/>
          </a:prstGeom>
          <a:solidFill>
            <a:srgbClr val="FFF7E0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20240" y="5212080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THE 7 CONTINENTS (By Size)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91840" y="4498848"/>
            <a:ext cx="960119" cy="0"/>
          </a:xfrm>
          <a:prstGeom prst="line">
            <a:avLst/>
          </a:prstGeom>
          <a:ln w="2286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4279392" y="3931920"/>
            <a:ext cx="1133856" cy="1133856"/>
          </a:xfrm>
          <a:prstGeom prst="ellipse">
            <a:avLst/>
          </a:prstGeom>
          <a:solidFill>
            <a:srgbClr val="FCD116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80" y="5212080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1. Asia (Largest)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40680" y="4498848"/>
            <a:ext cx="960119" cy="0"/>
          </a:xfrm>
          <a:prstGeom prst="line">
            <a:avLst/>
          </a:prstGeom>
          <a:ln w="2286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6428231" y="3931920"/>
            <a:ext cx="1133856" cy="1133856"/>
          </a:xfrm>
          <a:prstGeom prst="ellipse">
            <a:avLst/>
          </a:prstGeom>
          <a:solidFill>
            <a:srgbClr val="1B7F3A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5212080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2. AFRICA (2nd Largest)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89519" y="4498848"/>
            <a:ext cx="960121" cy="0"/>
          </a:xfrm>
          <a:prstGeom prst="line">
            <a:avLst/>
          </a:prstGeom>
          <a:ln w="2286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8577072" y="3931920"/>
            <a:ext cx="1133856" cy="1133856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5212080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Africa</a:t>
            </a:r>
          </a:p>
        </p:txBody>
      </p:sp>
      <p:sp>
        <p:nvSpPr>
          <p:cNvPr id="24" name="Oval 23"/>
          <p:cNvSpPr/>
          <p:nvPr/>
        </p:nvSpPr>
        <p:spPr>
          <a:xfrm>
            <a:off x="9875519" y="2898648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10378440" y="3059582"/>
            <a:ext cx="0" cy="683971"/>
          </a:xfrm>
          <a:prstGeom prst="line">
            <a:avLst/>
          </a:prstGeom>
          <a:ln w="2159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036454" y="3401568"/>
            <a:ext cx="683971" cy="0"/>
          </a:xfrm>
          <a:prstGeom prst="line">
            <a:avLst/>
          </a:prstGeom>
          <a:ln w="2159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277855" y="2697479"/>
            <a:ext cx="20116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11827"/>
                </a:solidFill>
                <a:latin typeface="Arial"/>
              </a:rPr>
              <a:t>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1975104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BE123C"/>
                </a:solidFill>
                <a:latin typeface="Arial"/>
              </a:rPr>
              <a:t>PRACTICE 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30428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 with evidence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6424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5064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In which continent is Uganda found?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14215" y="4251960"/>
            <a:ext cx="402337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416552" y="3401568"/>
            <a:ext cx="3063240" cy="1691640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62856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1496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Is Africa a country or a continent?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19472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9472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470648" y="4251960"/>
            <a:ext cx="402335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872983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19288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7928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How many continents are there in the world?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75904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75904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907024"/>
            <a:ext cx="10287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evidence from the lesson, not guessing.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B7F3A"/>
                </a:solidFill>
                <a:latin typeface="Arial"/>
              </a:rPr>
              <a:t>GROUP INFOGRAPHIC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286000"/>
            <a:ext cx="9372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Challenge</a:t>
            </a:r>
          </a:p>
        </p:txBody>
      </p:sp>
      <p:sp>
        <p:nvSpPr>
          <p:cNvPr id="13" name="Oval 12"/>
          <p:cNvSpPr/>
          <p:nvPr/>
        </p:nvSpPr>
        <p:spPr>
          <a:xfrm>
            <a:off x="2130552" y="3931920"/>
            <a:ext cx="1133856" cy="1133856"/>
          </a:xfrm>
          <a:prstGeom prst="ellipse">
            <a:avLst/>
          </a:prstGeom>
          <a:solidFill>
            <a:srgbClr val="FFF7E0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20240" y="5212080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Turn to a partner and discuss if they have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91840" y="4498848"/>
            <a:ext cx="960119" cy="0"/>
          </a:xfrm>
          <a:prstGeom prst="line">
            <a:avLst/>
          </a:prstGeom>
          <a:ln w="2286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4279392" y="3931920"/>
            <a:ext cx="1133856" cy="1133856"/>
          </a:xfrm>
          <a:prstGeom prst="ellipse">
            <a:avLst/>
          </a:prstGeom>
          <a:solidFill>
            <a:srgbClr val="FCD116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80" y="5212080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Look at the wall map and point to each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40680" y="4498848"/>
            <a:ext cx="960119" cy="0"/>
          </a:xfrm>
          <a:prstGeom prst="line">
            <a:avLst/>
          </a:prstGeom>
          <a:ln w="2286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6428231" y="3931920"/>
            <a:ext cx="1133856" cy="1133856"/>
          </a:xfrm>
          <a:prstGeom prst="ellipse">
            <a:avLst/>
          </a:prstGeom>
          <a:solidFill>
            <a:srgbClr val="1B7F3A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5212080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Use atlases in groups to list the four water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89519" y="4498848"/>
            <a:ext cx="960121" cy="0"/>
          </a:xfrm>
          <a:prstGeom prst="line">
            <a:avLst/>
          </a:prstGeom>
          <a:ln w="2286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8577072" y="3931920"/>
            <a:ext cx="1133856" cy="1133856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5212080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Africa</a:t>
            </a:r>
          </a:p>
        </p:txBody>
      </p:sp>
      <p:sp>
        <p:nvSpPr>
          <p:cNvPr id="24" name="Oval 23"/>
          <p:cNvSpPr/>
          <p:nvPr/>
        </p:nvSpPr>
        <p:spPr>
          <a:xfrm>
            <a:off x="9875519" y="2898648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10378440" y="3059582"/>
            <a:ext cx="0" cy="683971"/>
          </a:xfrm>
          <a:prstGeom prst="line">
            <a:avLst/>
          </a:prstGeom>
          <a:ln w="21590">
            <a:solidFill>
              <a:srgbClr val="1B7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036454" y="3401568"/>
            <a:ext cx="683971" cy="0"/>
          </a:xfrm>
          <a:prstGeom prst="line">
            <a:avLst/>
          </a:prstGeom>
          <a:ln w="2159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277855" y="2697479"/>
            <a:ext cx="20116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11827"/>
                </a:solidFill>
                <a:latin typeface="Arial"/>
              </a:rPr>
              <a:t>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03320" y="5650992"/>
            <a:ext cx="5440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86200" y="5769864"/>
            <a:ext cx="5074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90000"/>
                </a:solidFill>
                <a:latin typeface="Arial"/>
              </a:rPr>
              <a:t>Share-out: explain one result, then improve it.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1783080"/>
            <a:ext cx="9921240" cy="4434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27000" bIns="38100"/>
          <a:lstStyle/>
          <a:p>
            <a:pPr algn="ctr"/>
            <a:r>
              <a:rPr sz="1500" b="1">
                <a:solidFill>
                  <a:srgbClr val="4338CA"/>
                </a:solidFill>
                <a:latin typeface="Arial"/>
              </a:rPr>
              <a:t>EXIT TICKET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487168"/>
            <a:ext cx="8823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11827"/>
                </a:solidFill>
                <a:latin typeface="Arial"/>
              </a:rPr>
              <a:t>Answer: Which ocean did you put to the East?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3493008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20240" y="3977639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4462272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486460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8464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