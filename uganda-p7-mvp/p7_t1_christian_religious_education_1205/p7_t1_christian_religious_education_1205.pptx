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1. HOOK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p7_t1_christian_religious_education_1205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987552"/>
            <a:ext cx="108356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111827"/>
                </a:solidFill>
                <a:latin typeface="Arial"/>
              </a:rPr>
              <a:t>Christians and the Holy Spirit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38100"/>
          <a:lstStyle/>
          <a:p>
            <a:pPr algn="l"/>
            <a:r>
              <a:rPr sz="1200" b="1">
                <a:solidFill>
                  <a:srgbClr val="1D4ED8"/>
                </a:solidFill>
                <a:latin typeface="Arial"/>
              </a:rPr>
              <a:t>OPENING VISUAL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2286000"/>
            <a:ext cx="9372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11827"/>
                </a:solidFill>
                <a:latin typeface="Arial"/>
              </a:rPr>
              <a:t>Name one Biblical hero we studied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91640" y="3017520"/>
            <a:ext cx="2468880" cy="2743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CD1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947672" y="3310128"/>
            <a:ext cx="1956816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20240" y="3721608"/>
            <a:ext cx="20116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Arial"/>
              </a:rPr>
              <a:t>Think alone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4882896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475569"/>
                </a:solidFill>
                <a:latin typeface="Arial"/>
              </a:rPr>
              <a:t>draw + caption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46320" y="3017520"/>
            <a:ext cx="2468880" cy="2743200"/>
          </a:xfrm>
          <a:prstGeom prst="roundRect">
            <a:avLst/>
          </a:prstGeom>
          <a:solidFill>
            <a:srgbClr val="FFF7E0"/>
          </a:solidFill>
          <a:ln w="1524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02352" y="3310128"/>
            <a:ext cx="1956816" cy="7315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74920" y="3721608"/>
            <a:ext cx="20116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Arial"/>
              </a:rPr>
              <a:t>Pair talk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4882896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475569"/>
                </a:solidFill>
                <a:latin typeface="Arial"/>
              </a:rPr>
              <a:t>draw + caption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01000" y="3017520"/>
            <a:ext cx="2468880" cy="2743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57031" y="3310128"/>
            <a:ext cx="1956816" cy="73152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0" y="3721608"/>
            <a:ext cx="20116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Arial"/>
              </a:rPr>
              <a:t>Share one idea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4882896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475569"/>
                </a:solidFill>
                <a:latin typeface="Arial"/>
              </a:rPr>
              <a:t>draw + caption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2. 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p7_t1_christian_religious_education_1205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Today's mission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822960"/>
          </a:xfrm>
          <a:prstGeom prst="roundRect">
            <a:avLst/>
          </a:prstGeom>
          <a:solidFill>
            <a:srgbClr val="FFF7E0"/>
          </a:solidFill>
          <a:ln w="1778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Goal: I can synthesize key concepts from Term 1 by creating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1  Learn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Use: Who are our Heroes of Faith?, Planning Our Scrapbook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66160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66160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67328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2  Practise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60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Show: answer with one reason or example.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79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55079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56247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3  Show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79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Routine: listen, talk, try, explain.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3999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43999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45167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4  Reflect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599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Explain in your own words.</a:t>
            </a:r>
          </a:p>
        </p:txBody>
      </p:sp>
      <p:sp>
        <p:nvSpPr>
          <p:cNvPr id="28" name="Oval 27"/>
          <p:cNvSpPr/>
          <p:nvPr/>
        </p:nvSpPr>
        <p:spPr>
          <a:xfrm>
            <a:off x="5848502" y="5360212"/>
            <a:ext cx="460857" cy="148132"/>
          </a:xfrm>
          <a:prstGeom prst="ellipse">
            <a:avLst/>
          </a:prstGeom>
          <a:solidFill>
            <a:srgbClr val="FCD116"/>
          </a:solidFill>
          <a:ln w="1016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002121" y="5508345"/>
            <a:ext cx="153619" cy="345643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694883" y="5607100"/>
            <a:ext cx="768096" cy="4114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387644" y="5788152"/>
            <a:ext cx="1408176" cy="65836"/>
          </a:xfrm>
          <a:prstGeom prst="round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3. STARTER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p7_t1_christian_religious_education_1205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Starter: think first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2996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THINK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Name one Biblical hero we studied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30 seconds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2628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3328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compare your first answer with a partner.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with partner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43660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SHARE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964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connect your answer to Who are our Heroes of Faith?.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964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whole class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4. CONCEPT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p7_t1_christian_religious_education_1205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Who are our Heroes of Faith?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08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38100"/>
          <a:lstStyle/>
          <a:p>
            <a:pPr algn="l"/>
            <a:r>
              <a:rPr sz="1200" b="1">
                <a:solidFill>
                  <a:srgbClr val="087490"/>
                </a:solidFill>
                <a:latin typeface="Arial"/>
              </a:rPr>
              <a:t>CONTENT 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2286000"/>
            <a:ext cx="9372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11827"/>
                </a:solidFill>
                <a:latin typeface="Arial"/>
              </a:rPr>
              <a:t>Brainstorming session to recall "Heroes of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91640" y="3017520"/>
            <a:ext cx="2468880" cy="2743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CD1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947672" y="3310128"/>
            <a:ext cx="1956816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20240" y="3721608"/>
            <a:ext cx="20116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Arial"/>
              </a:rPr>
              <a:t>Reviewing Topic 1: Biblical Heroes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4882896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475569"/>
                </a:solidFill>
                <a:latin typeface="Arial"/>
              </a:rPr>
              <a:t>draw + caption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46320" y="3017520"/>
            <a:ext cx="2468880" cy="2743200"/>
          </a:xfrm>
          <a:prstGeom prst="roundRect">
            <a:avLst/>
          </a:prstGeom>
          <a:solidFill>
            <a:srgbClr val="FFF7E0"/>
          </a:solidFill>
          <a:ln w="1524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02352" y="3310128"/>
            <a:ext cx="1956816" cy="7315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74920" y="3721608"/>
            <a:ext cx="20116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Arial"/>
              </a:rPr>
              <a:t>Reviewing Topic 2: Ancestors and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4882896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475569"/>
                </a:solidFill>
                <a:latin typeface="Arial"/>
              </a:rPr>
              <a:t>draw + caption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01000" y="3017520"/>
            <a:ext cx="2468880" cy="2743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57031" y="3310128"/>
            <a:ext cx="1956816" cy="73152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0" y="3721608"/>
            <a:ext cx="20116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Arial"/>
              </a:rPr>
              <a:t>Reviewing Topic 3: Global Organizations of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4882896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475569"/>
                </a:solidFill>
                <a:latin typeface="Arial"/>
              </a:rPr>
              <a:t>draw + caption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5.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p7_t1_christian_religious_education_1205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Planning Our Scrapbook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38100"/>
          <a:lstStyle/>
          <a:p>
            <a:pPr algn="l"/>
            <a:r>
              <a:rPr sz="1200" b="1">
                <a:solidFill>
                  <a:srgbClr val="D97706"/>
                </a:solidFill>
                <a:latin typeface="Arial"/>
              </a:rPr>
              <a:t>MODEL 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2286000"/>
            <a:ext cx="9372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11827"/>
                </a:solidFill>
                <a:latin typeface="Arial"/>
              </a:rPr>
              <a:t>Worked example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91640" y="3017520"/>
            <a:ext cx="2468880" cy="2743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CD1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947672" y="3310128"/>
            <a:ext cx="1956816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20240" y="3721608"/>
            <a:ext cx="20116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Arial"/>
              </a:rPr>
              <a:t>Dividing the scrapbook into three sections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4882896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475569"/>
                </a:solidFill>
                <a:latin typeface="Arial"/>
              </a:rPr>
              <a:t>draw + caption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46320" y="3017520"/>
            <a:ext cx="2468880" cy="2743200"/>
          </a:xfrm>
          <a:prstGeom prst="roundRect">
            <a:avLst/>
          </a:prstGeom>
          <a:solidFill>
            <a:srgbClr val="FFF7E0"/>
          </a:solidFill>
          <a:ln w="1524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02352" y="3310128"/>
            <a:ext cx="1956816" cy="7315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74920" y="3721608"/>
            <a:ext cx="20116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Arial"/>
              </a:rPr>
              <a:t>Choosing titles for each page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4882896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475569"/>
                </a:solidFill>
                <a:latin typeface="Arial"/>
              </a:rPr>
              <a:t>draw + caption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01000" y="3017520"/>
            <a:ext cx="2468880" cy="2743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57031" y="3310128"/>
            <a:ext cx="1956816" cy="73152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0" y="3721608"/>
            <a:ext cx="20116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Arial"/>
              </a:rPr>
              <a:t>Preparing local materials (banana fibers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4882896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475569"/>
                </a:solidFill>
                <a:latin typeface="Arial"/>
              </a:rPr>
              <a:t>draw + caption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6. PRACTICE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p7_t1_christian_religious_education_1205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Try it together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1975104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BE123C"/>
                </a:solidFill>
                <a:latin typeface="Arial"/>
              </a:rPr>
              <a:t>PRACTICE FLOW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304288"/>
            <a:ext cx="10652760" cy="822960"/>
          </a:xfrm>
          <a:prstGeom prst="roundRect">
            <a:avLst/>
          </a:prstGeom>
          <a:solidFill>
            <a:srgbClr val="FFF7E0"/>
          </a:solidFill>
          <a:ln w="1778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Answer with evidence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0120" y="3401568"/>
            <a:ext cx="306324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6424" y="3584448"/>
            <a:ext cx="420624" cy="420624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5064" y="3529584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What values do our ancestors teach us?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63040" y="4553712"/>
            <a:ext cx="205740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63040" y="4709160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answer + reason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014215" y="4251960"/>
            <a:ext cx="402337" cy="0"/>
          </a:xfrm>
          <a:prstGeom prst="line">
            <a:avLst/>
          </a:prstGeom>
          <a:ln w="25400">
            <a:solidFill>
              <a:srgbClr val="BE1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416552" y="3401568"/>
            <a:ext cx="3063240" cy="1691640"/>
          </a:xfrm>
          <a:prstGeom prst="roundRect">
            <a:avLst/>
          </a:prstGeom>
          <a:solidFill>
            <a:srgbClr val="FFF7E0"/>
          </a:solidFill>
          <a:ln w="1270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562856" y="3584448"/>
            <a:ext cx="420624" cy="420624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11496" y="3529584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Which organization helps people in times of war?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19472" y="4553712"/>
            <a:ext cx="205740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9472" y="4709160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answer + reason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470648" y="4251960"/>
            <a:ext cx="402335" cy="0"/>
          </a:xfrm>
          <a:prstGeom prst="line">
            <a:avLst/>
          </a:prstGeom>
          <a:ln w="25400">
            <a:solidFill>
              <a:srgbClr val="BE1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872983" y="3401568"/>
            <a:ext cx="306324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019288" y="3584448"/>
            <a:ext cx="420624" cy="420624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67928" y="3529584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How many sections will our scrapbook have?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75904" y="4553712"/>
            <a:ext cx="205740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75904" y="4709160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answer + reason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907024"/>
            <a:ext cx="10287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Use evidence from the lesson, not guessing.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7. ACTIVITY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p7_t1_christian_religious_education_1205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Activity challenge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38100"/>
          <a:lstStyle/>
          <a:p>
            <a:pPr algn="l"/>
            <a:r>
              <a:rPr sz="1200" b="1">
                <a:solidFill>
                  <a:srgbClr val="1B7F3A"/>
                </a:solidFill>
                <a:latin typeface="Arial"/>
              </a:rPr>
              <a:t>GROUP INFOGRAPHIC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2286000"/>
            <a:ext cx="9372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11827"/>
                </a:solidFill>
                <a:latin typeface="Arial"/>
              </a:rPr>
              <a:t>Challenge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91640" y="3017520"/>
            <a:ext cx="2468880" cy="2743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CD1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947672" y="3310128"/>
            <a:ext cx="1956816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20240" y="3721608"/>
            <a:ext cx="20116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Arial"/>
              </a:rPr>
              <a:t>Work in pairs to list at least two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4882896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475569"/>
                </a:solidFill>
                <a:latin typeface="Arial"/>
              </a:rPr>
              <a:t>draw + caption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46320" y="3017520"/>
            <a:ext cx="2468880" cy="2743200"/>
          </a:xfrm>
          <a:prstGeom prst="roundRect">
            <a:avLst/>
          </a:prstGeom>
          <a:solidFill>
            <a:srgbClr val="FFF7E0"/>
          </a:solidFill>
          <a:ln w="1524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02352" y="3310128"/>
            <a:ext cx="1956816" cy="7315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74920" y="3721608"/>
            <a:ext cx="20116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Arial"/>
              </a:rPr>
              <a:t>Measure and cut their manila cards and label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4882896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475569"/>
                </a:solidFill>
                <a:latin typeface="Arial"/>
              </a:rPr>
              <a:t>draw + caption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01000" y="3017520"/>
            <a:ext cx="2468880" cy="2743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57031" y="3310128"/>
            <a:ext cx="1956816" cy="73152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0" y="3721608"/>
            <a:ext cx="20116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Arial"/>
              </a:rPr>
              <a:t>Draw illustrations for the first two sections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4882896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475569"/>
                </a:solidFill>
                <a:latin typeface="Arial"/>
              </a:rPr>
              <a:t>draw + caption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03320" y="5650992"/>
            <a:ext cx="544068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5769864"/>
            <a:ext cx="50749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D90000"/>
                </a:solidFill>
                <a:latin typeface="Arial"/>
              </a:rPr>
              <a:t>Share-out: explain one result, then improve it.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8. EXIT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p7_t1_christian_religious_education_1205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Exit ticket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1783080"/>
            <a:ext cx="9921240" cy="44348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27000" bIns="38100"/>
          <a:lstStyle/>
          <a:p>
            <a:pPr algn="ctr"/>
            <a:r>
              <a:rPr sz="1500" b="1">
                <a:solidFill>
                  <a:srgbClr val="4338CA"/>
                </a:solidFill>
                <a:latin typeface="Arial"/>
              </a:rPr>
              <a:t>EXIT TICKET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2487168"/>
            <a:ext cx="8823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100" b="1">
                <a:solidFill>
                  <a:srgbClr val="111827"/>
                </a:solidFill>
                <a:latin typeface="Arial"/>
              </a:rPr>
              <a:t>Answer: How will you use the Holy Spirit’s help during the holidays?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20240" y="3493008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920240" y="3977639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20240" y="4462272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91640" y="4864608"/>
            <a:ext cx="8823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Use one complete sentence.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5184648"/>
            <a:ext cx="8823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Use one key word: Reviewing names and roles: Abraham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5504688"/>
            <a:ext cx="8823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D90000"/>
                </a:solidFill>
                <a:latin typeface="Arial"/>
              </a:rPr>
              <a:t>Hand in or read your answer aloud.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