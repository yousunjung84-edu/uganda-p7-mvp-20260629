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024128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The Human Body: Muscular-Skeletal System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3794760" cy="4343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52400" bIns="38100"/>
          <a:lstStyle/>
          <a:p>
            <a:pPr algn="ctr"/>
            <a:r>
              <a:rPr sz="1800" b="1">
                <a:solidFill>
                  <a:srgbClr val="1D4ED8"/>
                </a:solidFill>
                <a:latin typeface="Arial"/>
              </a:rPr>
              <a:t>Integrated Science</a:t>
            </a:r>
          </a:p>
        </p:txBody>
      </p:sp>
      <p:sp>
        <p:nvSpPr>
          <p:cNvPr id="12" name="Oval 11"/>
          <p:cNvSpPr/>
          <p:nvPr/>
        </p:nvSpPr>
        <p:spPr>
          <a:xfrm>
            <a:off x="2429560" y="2939796"/>
            <a:ext cx="490118" cy="402336"/>
          </a:xfrm>
          <a:prstGeom prst="ellipse">
            <a:avLst/>
          </a:prstGeom>
          <a:solidFill>
            <a:srgbClr val="FFF7E0"/>
          </a:solidFill>
          <a:ln w="1016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45766" y="3392424"/>
            <a:ext cx="857707" cy="10561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29560" y="3643884"/>
            <a:ext cx="490118" cy="301751"/>
          </a:xfrm>
          <a:prstGeom prst="ellipse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16912" y="3744468"/>
            <a:ext cx="1715414" cy="10058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745736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Integrated Science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50468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Look • wonder • predict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1965960"/>
            <a:ext cx="6355080" cy="3520440"/>
          </a:xfrm>
          <a:prstGeom prst="roundRect">
            <a:avLst/>
          </a:prstGeom>
          <a:solidFill>
            <a:srgbClr val="FFF7E0"/>
          </a:solidFill>
          <a:ln w="2032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7800" y="2267712"/>
            <a:ext cx="5623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Arial"/>
              </a:rPr>
              <a:t>OPENING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2788920"/>
            <a:ext cx="557784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111827"/>
                </a:solidFill>
                <a:latin typeface="Arial"/>
              </a:rPr>
              <a:t>Big question: What do you feel when you touch your shin?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2" y="4315968"/>
            <a:ext cx="5577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475569"/>
                </a:solidFill>
                <a:latin typeface="Arial"/>
              </a:rPr>
              <a:t>First think alone. Then tell a partner one possible answer.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identify and name the main components of the human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Why Do We Have a Shape?, Exploring the Skeleton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Oval 27"/>
          <p:cNvSpPr/>
          <p:nvPr/>
        </p:nvSpPr>
        <p:spPr>
          <a:xfrm>
            <a:off x="5848502" y="5360212"/>
            <a:ext cx="409651" cy="131673"/>
          </a:xfrm>
          <a:prstGeom prst="ellipse">
            <a:avLst/>
          </a:prstGeom>
          <a:solidFill>
            <a:srgbClr val="FFF7E0"/>
          </a:solidFill>
          <a:ln w="1016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94883" y="5508345"/>
            <a:ext cx="716889" cy="345643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848502" y="5590641"/>
            <a:ext cx="409651" cy="98755"/>
          </a:xfrm>
          <a:prstGeom prst="ellipse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36438" y="5623560"/>
            <a:ext cx="1433779" cy="3291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What do you feel when you touch your shin?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Why Do We Have a Shape?.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Why Do We Have a Shape?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828800"/>
            <a:ext cx="3337560" cy="4160520"/>
          </a:xfrm>
          <a:prstGeom prst="roundRect">
            <a:avLst/>
          </a:prstGeom>
          <a:solidFill>
            <a:srgbClr val="FFF7E0"/>
          </a:solidFill>
          <a:ln w="1905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30221" y="2610612"/>
            <a:ext cx="431596" cy="329184"/>
          </a:xfrm>
          <a:prstGeom prst="ellipse">
            <a:avLst/>
          </a:prstGeom>
          <a:solidFill>
            <a:srgbClr val="FFF7E0"/>
          </a:solidFill>
          <a:ln w="1016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068372" y="2980944"/>
            <a:ext cx="755294" cy="864108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30221" y="3186684"/>
            <a:ext cx="431596" cy="246888"/>
          </a:xfrm>
          <a:prstGeom prst="ellipse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90725" y="3268980"/>
            <a:ext cx="1510588" cy="82296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041648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Integrated Science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617720"/>
            <a:ext cx="29077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87490"/>
                </a:solidFill>
                <a:latin typeface="Arial"/>
              </a:rPr>
              <a:t>KEY IDEA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1947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Arial"/>
              </a:rPr>
              <a:t>Key idea: Prior knowledge activation: Discussing why the body has a firm shape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1874519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1874519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221991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203911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The body has a firm framework.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3108960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0" y="3108960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45643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327355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Arial"/>
              </a:rPr>
              <a:t>This framework allows us to stand and move.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0" y="4343400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0" y="4343400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469087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58384" y="450799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Arial"/>
              </a:rPr>
              <a:t>Without it, we would be like a heap of cloth.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Exploring the Skeleton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28800"/>
            <a:ext cx="7360920" cy="4251960"/>
          </a:xfrm>
          <a:prstGeom prst="roundRect">
            <a:avLst/>
          </a:prstGeom>
          <a:solidFill>
            <a:srgbClr val="1F2937"/>
          </a:solidFill>
          <a:ln w="1905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84831"/>
            <a:ext cx="6812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CD116"/>
                </a:solidFill>
                <a:latin typeface="Arial"/>
              </a:rPr>
              <a:t>BOARD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578608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1. THE SKELETON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54679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2. A framework of bones in the body.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1828800"/>
            <a:ext cx="2697480" cy="4251960"/>
          </a:xfrm>
          <a:prstGeom prst="roundRect">
            <a:avLst/>
          </a:prstGeom>
          <a:solidFill>
            <a:srgbClr val="FFF7E0"/>
          </a:solidFill>
          <a:ln w="1651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748418" y="2636215"/>
            <a:ext cx="299923" cy="270662"/>
          </a:xfrm>
          <a:prstGeom prst="ellipse">
            <a:avLst/>
          </a:prstGeom>
          <a:solidFill>
            <a:srgbClr val="FFF7E0"/>
          </a:solidFill>
          <a:ln w="1016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35947" y="2940710"/>
            <a:ext cx="524865" cy="710488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48418" y="3109874"/>
            <a:ext cx="299923" cy="202996"/>
          </a:xfrm>
          <a:prstGeom prst="ellipse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73514" y="3177539"/>
            <a:ext cx="1049731" cy="67665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0" y="3767328"/>
            <a:ext cx="18745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Integrated Science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526280"/>
            <a:ext cx="20574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Teacher models first. Learners copy the pattern, then explain the step.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19072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743200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8992" y="2898648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889504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Why can't a piece of cloth stand up on its own?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3264408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3822191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8992" y="3977639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9072" y="3968496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What is the name of the bone protecting the brain?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4343400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4901183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" y="5056631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19072" y="5047488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Where are the longest bones found in the skeleton?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35240" y="5422392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989320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the source idea, not guessing.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3063240" cy="434340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122322" y="2461564"/>
            <a:ext cx="373075" cy="277977"/>
          </a:xfrm>
          <a:prstGeom prst="ellipse">
            <a:avLst/>
          </a:prstGeom>
          <a:solidFill>
            <a:srgbClr val="FFF7E0"/>
          </a:solidFill>
          <a:ln w="1016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982419" y="2774289"/>
            <a:ext cx="652881" cy="729691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22322" y="2948025"/>
            <a:ext cx="373075" cy="208483"/>
          </a:xfrm>
          <a:prstGeom prst="ellipse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55978" y="3017520"/>
            <a:ext cx="1305763" cy="6949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63016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Integrated Science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2697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B7F3A"/>
                </a:solidFill>
                <a:latin typeface="Arial"/>
              </a:rPr>
              <a:t>GROUP CHALLENGE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54880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Arial"/>
              </a:rPr>
              <a:t>Produce one answer the class can check.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1828800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1828800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2144268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4" y="1993392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Touch various parts of their bodies (head, arm, ribs) to identify hard and soft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2999232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2999232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33147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9784" y="3163824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In groups, observe the skeleton chart and point out the skull, ribs, and limb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4169664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4169664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448513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9784" y="4334256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Write the definitions of bones, muscles, and joints in their notebooks as provided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5413248"/>
            <a:ext cx="690372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5577840"/>
            <a:ext cx="6446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D90000"/>
                </a:solidFill>
                <a:latin typeface="Arial"/>
              </a:rPr>
              <a:t>Class share-out: one group explains, one group improves it.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Is the heart part of the muscular-skeletal system?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