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987552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The Human Body: Muscular-Skeletal System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D4ED8"/>
                </a:solidFill>
                <a:latin typeface="Arial"/>
              </a:rPr>
              <a:t>OPENING 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What do you feel when you touch your shin?</a:t>
            </a:r>
          </a:p>
        </p:txBody>
      </p:sp>
      <p:sp>
        <p:nvSpPr>
          <p:cNvPr id="13" name="Oval 12"/>
          <p:cNvSpPr/>
          <p:nvPr/>
        </p:nvSpPr>
        <p:spPr>
          <a:xfrm>
            <a:off x="5756148" y="3355848"/>
            <a:ext cx="694944" cy="694944"/>
          </a:xfrm>
          <a:prstGeom prst="ellipse">
            <a:avLst/>
          </a:prstGeom>
          <a:solidFill>
            <a:srgbClr val="FCD116"/>
          </a:solidFill>
          <a:ln w="152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28131" y="4078224"/>
            <a:ext cx="950976" cy="1463040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2697480" y="3611880"/>
            <a:ext cx="3406140" cy="704088"/>
          </a:xfrm>
          <a:prstGeom prst="line">
            <a:avLst/>
          </a:prstGeom>
          <a:ln w="2032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463040" y="321868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9344" y="339242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Think alone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103620" y="3611880"/>
            <a:ext cx="3497580" cy="704088"/>
          </a:xfrm>
          <a:prstGeom prst="line">
            <a:avLst/>
          </a:prstGeom>
          <a:ln w="2032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66760" y="321868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39242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Pair talk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697480" y="4315968"/>
            <a:ext cx="3406140" cy="1170432"/>
          </a:xfrm>
          <a:prstGeom prst="line">
            <a:avLst/>
          </a:prstGeom>
          <a:ln w="2032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463040" y="509320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9344" y="526694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identify and name the main components of the human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Why Do We Have a Shape?, Exploring the Skeleton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Oval 27"/>
          <p:cNvSpPr/>
          <p:nvPr/>
        </p:nvSpPr>
        <p:spPr>
          <a:xfrm>
            <a:off x="5848502" y="5360212"/>
            <a:ext cx="409651" cy="131673"/>
          </a:xfrm>
          <a:prstGeom prst="ellipse">
            <a:avLst/>
          </a:prstGeom>
          <a:solidFill>
            <a:srgbClr val="FFF7E0"/>
          </a:solidFill>
          <a:ln w="1016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94883" y="5508345"/>
            <a:ext cx="716889" cy="345643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848502" y="5590641"/>
            <a:ext cx="409651" cy="98755"/>
          </a:xfrm>
          <a:prstGeom prst="ellipse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36438" y="5623560"/>
            <a:ext cx="1433779" cy="3291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What do you feel when you touch your shin?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Why Do We Have a Shape?.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Why Do We Have a Shape?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087490"/>
                </a:solidFill>
                <a:latin typeface="Arial"/>
              </a:rPr>
              <a:t>CONTENT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Prior knowledge activation: Discussing why the</a:t>
            </a:r>
          </a:p>
        </p:txBody>
      </p:sp>
      <p:sp>
        <p:nvSpPr>
          <p:cNvPr id="13" name="Oval 12"/>
          <p:cNvSpPr/>
          <p:nvPr/>
        </p:nvSpPr>
        <p:spPr>
          <a:xfrm>
            <a:off x="5756148" y="3355848"/>
            <a:ext cx="694944" cy="694944"/>
          </a:xfrm>
          <a:prstGeom prst="ellipse">
            <a:avLst/>
          </a:prstGeom>
          <a:solidFill>
            <a:srgbClr val="FCD116"/>
          </a:solidFill>
          <a:ln w="152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28131" y="4078224"/>
            <a:ext cx="950976" cy="1463040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2697480" y="3611880"/>
            <a:ext cx="3406140" cy="704088"/>
          </a:xfrm>
          <a:prstGeom prst="line">
            <a:avLst/>
          </a:prstGeom>
          <a:ln w="20320">
            <a:solidFill>
              <a:srgbClr val="08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463040" y="321868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9344" y="339242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The body has a firm framework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103620" y="3611880"/>
            <a:ext cx="3497580" cy="704088"/>
          </a:xfrm>
          <a:prstGeom prst="line">
            <a:avLst/>
          </a:prstGeom>
          <a:ln w="20320">
            <a:solidFill>
              <a:srgbClr val="08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66760" y="321868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39242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This framework allows us to stand and move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697480" y="4315968"/>
            <a:ext cx="3406140" cy="1170432"/>
          </a:xfrm>
          <a:prstGeom prst="line">
            <a:avLst/>
          </a:prstGeom>
          <a:ln w="20320">
            <a:solidFill>
              <a:srgbClr val="08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463040" y="509320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9344" y="526694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Without it, we would be like a heap of cloth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Exploring the Skeleton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D97706"/>
                </a:solidFill>
                <a:latin typeface="Arial"/>
              </a:rPr>
              <a:t>MODEL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Worked example</a:t>
            </a:r>
          </a:p>
        </p:txBody>
      </p:sp>
      <p:sp>
        <p:nvSpPr>
          <p:cNvPr id="13" name="Oval 12"/>
          <p:cNvSpPr/>
          <p:nvPr/>
        </p:nvSpPr>
        <p:spPr>
          <a:xfrm>
            <a:off x="5756148" y="3355848"/>
            <a:ext cx="694944" cy="694944"/>
          </a:xfrm>
          <a:prstGeom prst="ellipse">
            <a:avLst/>
          </a:prstGeom>
          <a:solidFill>
            <a:srgbClr val="FCD116"/>
          </a:solidFill>
          <a:ln w="152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28131" y="4078224"/>
            <a:ext cx="950976" cy="1463040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2697480" y="3611880"/>
            <a:ext cx="3406140" cy="704088"/>
          </a:xfrm>
          <a:prstGeom prst="line">
            <a:avLst/>
          </a:prstGeom>
          <a:ln w="2032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463040" y="321868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9344" y="339242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THE SKELETON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103620" y="3611880"/>
            <a:ext cx="3497580" cy="704088"/>
          </a:xfrm>
          <a:prstGeom prst="line">
            <a:avLst/>
          </a:prstGeom>
          <a:ln w="2032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66760" y="321868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39242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A framework of bones in the body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97510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E123C"/>
                </a:solidFill>
                <a:latin typeface="Arial"/>
              </a:rPr>
              <a:t>PRACTICE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30428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6424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Why can't a piece of cloth stand up on its own?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14215" y="4251960"/>
            <a:ext cx="402337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16552" y="3401568"/>
            <a:ext cx="3063240" cy="169164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62856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What is the name of the bone protecting the brain?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70648" y="4251960"/>
            <a:ext cx="402335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72983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9288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Where are the longest bones found in the skeleton?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07024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evidence from the lesson, not guessing.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B7F3A"/>
                </a:solidFill>
                <a:latin typeface="Arial"/>
              </a:rPr>
              <a:t>GROUP INFOGRAPHIC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Challenge</a:t>
            </a:r>
          </a:p>
        </p:txBody>
      </p:sp>
      <p:sp>
        <p:nvSpPr>
          <p:cNvPr id="13" name="Oval 12"/>
          <p:cNvSpPr/>
          <p:nvPr/>
        </p:nvSpPr>
        <p:spPr>
          <a:xfrm>
            <a:off x="5756148" y="3355848"/>
            <a:ext cx="694944" cy="694944"/>
          </a:xfrm>
          <a:prstGeom prst="ellipse">
            <a:avLst/>
          </a:prstGeom>
          <a:solidFill>
            <a:srgbClr val="FCD116"/>
          </a:solidFill>
          <a:ln w="152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28131" y="4078224"/>
            <a:ext cx="950976" cy="1463040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2697480" y="3611880"/>
            <a:ext cx="3406140" cy="704088"/>
          </a:xfrm>
          <a:prstGeom prst="line">
            <a:avLst/>
          </a:prstGeom>
          <a:ln w="2032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463040" y="321868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9344" y="339242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Touch various parts of their bodies (head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103620" y="3611880"/>
            <a:ext cx="3497580" cy="704088"/>
          </a:xfrm>
          <a:prstGeom prst="line">
            <a:avLst/>
          </a:prstGeom>
          <a:ln w="2032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66760" y="321868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39242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In groups, observe the skeleton chart and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697480" y="4315968"/>
            <a:ext cx="3406140" cy="1170432"/>
          </a:xfrm>
          <a:prstGeom prst="line">
            <a:avLst/>
          </a:prstGeom>
          <a:ln w="2032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463040" y="509320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9344" y="526694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Write the definitions of bones, muscles, and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03320" y="5650992"/>
            <a:ext cx="5440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86200" y="576986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0000"/>
                </a:solidFill>
                <a:latin typeface="Arial"/>
              </a:rPr>
              <a:t>Share-out: explain one result, then improve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Is the heart part of the muscular-skeletal system?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