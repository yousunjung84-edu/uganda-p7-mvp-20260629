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The Human Body: Muscular-Skeletal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What do you feel when you touch your shin?</a:t>
            </a:r>
          </a:p>
        </p:txBody>
      </p:sp>
      <p:sp>
        <p:nvSpPr>
          <p:cNvPr id="13" name="Oval 12"/>
          <p:cNvSpPr/>
          <p:nvPr/>
        </p:nvSpPr>
        <p:spPr>
          <a:xfrm>
            <a:off x="5801868" y="2962656"/>
            <a:ext cx="603504" cy="603504"/>
          </a:xfrm>
          <a:prstGeom prst="ellipse">
            <a:avLst/>
          </a:prstGeom>
          <a:solidFill>
            <a:srgbClr val="FFF7E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103620" y="3566160"/>
            <a:ext cx="0" cy="1591056"/>
          </a:xfrm>
          <a:prstGeom prst="line">
            <a:avLst/>
          </a:prstGeom>
          <a:ln w="254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600700" y="3922776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00700" y="4133088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0700" y="4343400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4914900" y="3968496"/>
            <a:ext cx="1188720" cy="64008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03620" y="3968496"/>
            <a:ext cx="1188720" cy="64008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4178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036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2587752" y="3465576"/>
            <a:ext cx="3515868" cy="1051560"/>
          </a:xfrm>
          <a:prstGeom prst="line">
            <a:avLst/>
          </a:prstGeom>
          <a:ln w="1524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417319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79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103620" y="3465576"/>
            <a:ext cx="3479291" cy="1051560"/>
          </a:xfrm>
          <a:prstGeom prst="line">
            <a:avLst/>
          </a:prstGeom>
          <a:ln w="1524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12480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587752" y="4517136"/>
            <a:ext cx="3515868" cy="868680"/>
          </a:xfrm>
          <a:prstGeom prst="line">
            <a:avLst/>
          </a:prstGeom>
          <a:ln w="1524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417319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79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03620" y="4517136"/>
            <a:ext cx="3479291" cy="868680"/>
          </a:xfrm>
          <a:prstGeom prst="line">
            <a:avLst/>
          </a:prstGeom>
          <a:ln w="1524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412480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movement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identify and name the main components of the human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Why Do We Have a Shape?, Exploring the Skeleton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09651" cy="131673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94883" y="5508345"/>
            <a:ext cx="716889" cy="345643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48502" y="5590641"/>
            <a:ext cx="409651" cy="98755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623560"/>
            <a:ext cx="1433779" cy="3291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do you feel when you touch your shin?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Why Do We Have a Shape?.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Why Do We Have a Shape?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Prior knowledge activation: Discussing why the</a:t>
            </a:r>
          </a:p>
        </p:txBody>
      </p:sp>
      <p:sp>
        <p:nvSpPr>
          <p:cNvPr id="13" name="Oval 12"/>
          <p:cNvSpPr/>
          <p:nvPr/>
        </p:nvSpPr>
        <p:spPr>
          <a:xfrm>
            <a:off x="5801868" y="2962656"/>
            <a:ext cx="603504" cy="603504"/>
          </a:xfrm>
          <a:prstGeom prst="ellipse">
            <a:avLst/>
          </a:prstGeom>
          <a:solidFill>
            <a:srgbClr val="FFF7E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103620" y="3566160"/>
            <a:ext cx="0" cy="1591056"/>
          </a:xfrm>
          <a:prstGeom prst="line">
            <a:avLst/>
          </a:prstGeom>
          <a:ln w="254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600700" y="3922776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00700" y="4133088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0700" y="4343400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4914900" y="3968496"/>
            <a:ext cx="1188720" cy="640080"/>
          </a:xfrm>
          <a:prstGeom prst="line">
            <a:avLst/>
          </a:prstGeom>
          <a:ln w="2540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03620" y="3968496"/>
            <a:ext cx="1188720" cy="640080"/>
          </a:xfrm>
          <a:prstGeom prst="line">
            <a:avLst/>
          </a:prstGeom>
          <a:ln w="2540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4178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036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2587752" y="3465576"/>
            <a:ext cx="3515868" cy="1051560"/>
          </a:xfrm>
          <a:prstGeom prst="line">
            <a:avLst/>
          </a:prstGeom>
          <a:ln w="1524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417319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79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The body has a firm framework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103620" y="3465576"/>
            <a:ext cx="3479291" cy="1051560"/>
          </a:xfrm>
          <a:prstGeom prst="line">
            <a:avLst/>
          </a:prstGeom>
          <a:ln w="1524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12480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This framework allows us to stand and move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587752" y="4517136"/>
            <a:ext cx="3515868" cy="868680"/>
          </a:xfrm>
          <a:prstGeom prst="line">
            <a:avLst/>
          </a:prstGeom>
          <a:ln w="1524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417319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79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Without it, we would be like a heap of cloth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03620" y="4517136"/>
            <a:ext cx="3479291" cy="868680"/>
          </a:xfrm>
          <a:prstGeom prst="line">
            <a:avLst/>
          </a:prstGeom>
          <a:ln w="1524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412480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movement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Exploring the Skeleton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5801868" y="2962656"/>
            <a:ext cx="603504" cy="603504"/>
          </a:xfrm>
          <a:prstGeom prst="ellipse">
            <a:avLst/>
          </a:prstGeom>
          <a:solidFill>
            <a:srgbClr val="FFF7E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103620" y="3566160"/>
            <a:ext cx="0" cy="1591056"/>
          </a:xfrm>
          <a:prstGeom prst="line">
            <a:avLst/>
          </a:prstGeom>
          <a:ln w="254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600700" y="3922776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00700" y="4133088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0700" y="4343400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4914900" y="3968496"/>
            <a:ext cx="1188720" cy="64008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03620" y="3968496"/>
            <a:ext cx="1188720" cy="64008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4178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036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2587752" y="3465576"/>
            <a:ext cx="3515868" cy="1051560"/>
          </a:xfrm>
          <a:prstGeom prst="line">
            <a:avLst/>
          </a:prstGeom>
          <a:ln w="1524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417319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79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THE SKELETON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103620" y="3465576"/>
            <a:ext cx="3479291" cy="1051560"/>
          </a:xfrm>
          <a:prstGeom prst="line">
            <a:avLst/>
          </a:prstGeom>
          <a:ln w="1524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12480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 framework of bones in the body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587752" y="4517136"/>
            <a:ext cx="3515868" cy="868680"/>
          </a:xfrm>
          <a:prstGeom prst="line">
            <a:avLst/>
          </a:prstGeom>
          <a:ln w="1524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417319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79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joints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03620" y="4517136"/>
            <a:ext cx="3479291" cy="868680"/>
          </a:xfrm>
          <a:prstGeom prst="line">
            <a:avLst/>
          </a:prstGeom>
          <a:ln w="1524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412480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movement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can't a piece of cloth stand up on its own?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the name of the bone protecting the brain?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Where are the longest bones found in the skeleton?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Oval 12"/>
          <p:cNvSpPr/>
          <p:nvPr/>
        </p:nvSpPr>
        <p:spPr>
          <a:xfrm>
            <a:off x="5801868" y="2962656"/>
            <a:ext cx="603504" cy="603504"/>
          </a:xfrm>
          <a:prstGeom prst="ellipse">
            <a:avLst/>
          </a:prstGeom>
          <a:solidFill>
            <a:srgbClr val="FFF7E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103620" y="3566160"/>
            <a:ext cx="0" cy="1591056"/>
          </a:xfrm>
          <a:prstGeom prst="line">
            <a:avLst/>
          </a:prstGeom>
          <a:ln w="254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600700" y="3922776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00700" y="4133088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0700" y="4343400"/>
            <a:ext cx="1005840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4914900" y="3968496"/>
            <a:ext cx="1188720" cy="640080"/>
          </a:xfrm>
          <a:prstGeom prst="line">
            <a:avLst/>
          </a:prstGeom>
          <a:ln w="254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03620" y="3968496"/>
            <a:ext cx="1188720" cy="640080"/>
          </a:xfrm>
          <a:prstGeom prst="line">
            <a:avLst/>
          </a:prstGeom>
          <a:ln w="254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4178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03620" y="5111496"/>
            <a:ext cx="685800" cy="109728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2587752" y="3465576"/>
            <a:ext cx="3515868" cy="1051560"/>
          </a:xfrm>
          <a:prstGeom prst="line">
            <a:avLst/>
          </a:prstGeom>
          <a:ln w="1524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417319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79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Touch various parts of their bodies (head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103620" y="3465576"/>
            <a:ext cx="3479291" cy="1051560"/>
          </a:xfrm>
          <a:prstGeom prst="line">
            <a:avLst/>
          </a:prstGeom>
          <a:ln w="1524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12480" y="308152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3246120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 groups, observe the skeleton chart and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587752" y="4517136"/>
            <a:ext cx="3515868" cy="868680"/>
          </a:xfrm>
          <a:prstGeom prst="line">
            <a:avLst/>
          </a:prstGeom>
          <a:ln w="1524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417319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79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Write the definitions of bones, muscles, and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03620" y="4517136"/>
            <a:ext cx="3479291" cy="868680"/>
          </a:xfrm>
          <a:prstGeom prst="line">
            <a:avLst/>
          </a:prstGeom>
          <a:ln w="1524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412480" y="5001768"/>
            <a:ext cx="23408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5166359"/>
            <a:ext cx="206654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movement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Is the heart part of the muscular-skeletal system?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