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4.0 Patterns and Sequences (Final 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Mathematics</a:t>
            </a:r>
          </a:p>
          <a:p>
            <a:pPr algn="ctr"/>
            <a:r>
              <a:rPr sz="2200"/>
              <a:t>By the end of the lesson, learners will be able to apply all Term 1 mathematical</a:t>
            </a:r>
          </a:p>
          <a:p>
            <a:pPr algn="ctr"/>
            <a:r>
              <a:rPr sz="2200"/>
              <a:t>concepts (Sets, Whole Numbers, Operations, Patterns) to complete a comprehensive</a:t>
            </a:r>
          </a:p>
          <a:p>
            <a:pPr algn="ctr"/>
            <a:r>
              <a:rPr sz="2200"/>
              <a:t>"Math Mastery Project" simulating a local market scenario.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By the end of the lesson, learners will be able to apply all Term 1 mathematical</a:t>
            </a:r>
          </a:p>
          <a:p>
            <a:pPr>
              <a:spcAft>
                <a:spcPts val="800"/>
              </a:spcAft>
              <a:defRPr sz="2200"/>
            </a:pPr>
            <a:r>
              <a:t>concepts (Sets, Whole Numbers, Operations, Patterns) to complete a comprehensive</a:t>
            </a:r>
          </a:p>
          <a:p>
            <a:pPr>
              <a:spcAft>
                <a:spcPts val="800"/>
              </a:spcAft>
              <a:defRPr sz="2200"/>
            </a:pPr>
            <a:r>
              <a:t>"Math Mastery Project" simulating a local market scenario.</a:t>
            </a:r>
          </a:p>
          <a:p>
            <a:pPr>
              <a:spcAft>
                <a:spcPts val="800"/>
              </a:spcAft>
              <a:defRPr sz="2200"/>
            </a:pPr>
            <a:r>
              <a:t>Lesson focus: 4.0 Patterns and Sequences (Final Review)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Setting Up Our Math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Use stones to represent customers.</a:t>
            </a:r>
          </a:p>
          <a:p>
            <a:pPr>
              <a:spcAft>
                <a:spcPts val="800"/>
              </a:spcAft>
              <a:defRPr sz="2200"/>
            </a:pPr>
            <a:r>
              <a:t>Group local items into Sets.</a:t>
            </a:r>
          </a:p>
          <a:p>
            <a:pPr>
              <a:spcAft>
                <a:spcPts val="800"/>
              </a:spcAft>
              <a:defRPr sz="2200"/>
            </a:pPr>
            <a:r>
              <a:t>Identify subsets within the market.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Mapping the Market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Draw a Venn diagram of the inventory.</a:t>
            </a:r>
          </a:p>
          <a:p>
            <a:pPr>
              <a:spcAft>
                <a:spcPts val="800"/>
              </a:spcAft>
              <a:defRPr sz="2200"/>
            </a:pPr>
            <a:r>
              <a:t>Create a price sequence for items.</a:t>
            </a:r>
          </a:p>
          <a:p>
            <a:pPr>
              <a:spcAft>
                <a:spcPts val="800"/>
              </a:spcAft>
              <a:defRPr sz="2200"/>
            </a:pPr>
            <a:r>
              <a:t>Identify the rule of the sequence.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Calculating the Market Profit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Multiply items by price.</a:t>
            </a:r>
          </a:p>
          <a:p>
            <a:pPr>
              <a:spcAft>
                <a:spcPts val="800"/>
              </a:spcAft>
              <a:defRPr sz="2200"/>
            </a:pPr>
            <a:r>
              <a:t>Sum the total revenue.</a:t>
            </a:r>
          </a:p>
          <a:p>
            <a:pPr>
              <a:spcAft>
                <a:spcPts val="800"/>
              </a:spcAft>
              <a:defRPr sz="2200"/>
            </a:pPr>
            <a:r>
              <a:t>Convert large totals to Standard Form.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Inspector's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Use divisibility tests for 6, 8, and 9.</a:t>
            </a:r>
          </a:p>
          <a:p>
            <a:pPr>
              <a:spcAft>
                <a:spcPts val="800"/>
              </a:spcAft>
              <a:defRPr sz="2200"/>
            </a:pPr>
            <a:r>
              <a:t>Find square roots of perfect numbers.</a:t>
            </a:r>
          </a:p>
          <a:p>
            <a:pPr>
              <a:spcAft>
                <a:spcPts val="800"/>
              </a:spcAft>
              <a:defRPr sz="2200"/>
            </a:pPr>
            <a:r>
              <a:t>Apply prime factorisation.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Mastery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Present project findings.</a:t>
            </a:r>
          </a:p>
          <a:p>
            <a:pPr>
              <a:spcAft>
                <a:spcPts val="800"/>
              </a:spcAft>
              <a:defRPr sz="2200"/>
            </a:pPr>
            <a:r>
              <a:t>Solve a final "Mastery Problem."</a:t>
            </a:r>
          </a:p>
          <a:p>
            <a:pPr>
              <a:spcAft>
                <a:spcPts val="800"/>
              </a:spcAft>
              <a:defRPr sz="2200"/>
            </a:pPr>
            <a:r>
              <a:t>Reflect on Term 1 progress.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How many items are in our Universal Set?</a:t>
            </a:r>
          </a:p>
          <a:p>
            <a:pPr>
              <a:spcAft>
                <a:spcPts val="800"/>
              </a:spcAft>
              <a:defRPr sz="2200"/>
            </a:pPr>
            <a:r>
              <a:t>Can an item belong to two sets at once?</a:t>
            </a:r>
          </a:p>
          <a:p>
            <a:pPr>
              <a:spcAft>
                <a:spcPts val="800"/>
              </a:spcAft>
              <a:defRPr sz="2200"/>
            </a:pPr>
            <a:r>
              <a:t>Where do we put items that are both cheap and useful?</a:t>
            </a:r>
          </a:p>
          <a:p>
            <a:pPr>
              <a:spcAft>
                <a:spcPts val="800"/>
              </a:spcAft>
              <a:defRPr sz="2200"/>
            </a:pPr>
            <a:r>
              <a:t>What is the common difference in our price sequence?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