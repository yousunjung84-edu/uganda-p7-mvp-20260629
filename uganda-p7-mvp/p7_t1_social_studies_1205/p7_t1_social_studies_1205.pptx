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Arial"/>
              </a:rPr>
              <a:t>Living Together in Africa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55648"/>
            <a:ext cx="10652760" cy="44805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38100"/>
          <a:lstStyle/>
          <a:p>
            <a:pPr algn="l"/>
            <a:r>
              <a:rPr sz="1200" b="1">
                <a:solidFill>
                  <a:srgbClr val="1D4ED8"/>
                </a:solidFill>
                <a:latin typeface="Arial"/>
              </a:rPr>
              <a:t>OPENING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286000"/>
            <a:ext cx="9372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What is the most interesting thing you learned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424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5623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3056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19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5372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1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reflection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5779008"/>
            <a:ext cx="8641080" cy="0"/>
          </a:xfrm>
          <a:prstGeom prst="line">
            <a:avLst/>
          </a:prstGeom>
          <a:ln w="254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55648"/>
            <a:ext cx="10652760" cy="822960"/>
          </a:xfrm>
          <a:prstGeom prst="roundRect">
            <a:avLst/>
          </a:prstGeom>
          <a:solidFill>
            <a:srgbClr val="FFF7E0"/>
          </a:solidFill>
          <a:ln w="177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Goal: I can organize and compile their Term 1 Social Studies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1800"/>
            <a:ext cx="242316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1800"/>
            <a:ext cx="2423160" cy="16459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355848"/>
            <a:ext cx="20208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7F3A"/>
                </a:solidFill>
                <a:latin typeface="Arial"/>
              </a:rPr>
              <a:t>1  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2277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Use: Our Term 1 SST Journey, Organizing Our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971800"/>
            <a:ext cx="242316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971800"/>
            <a:ext cx="2423160" cy="16459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3355848"/>
            <a:ext cx="20208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7F3A"/>
                </a:solidFill>
                <a:latin typeface="Arial"/>
              </a:rPr>
              <a:t>2  Practise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92277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Show: answer with one reason or example.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71800"/>
            <a:ext cx="242316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71800"/>
            <a:ext cx="2423160" cy="16459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7" y="3355848"/>
            <a:ext cx="20208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7F3A"/>
                </a:solidFill>
                <a:latin typeface="Arial"/>
              </a:rPr>
              <a:t>3  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92277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Routine: listen, talk, try, explain.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3999" y="2971800"/>
            <a:ext cx="2423160" cy="2103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3999" y="2971800"/>
            <a:ext cx="2423160" cy="16459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7" y="3355848"/>
            <a:ext cx="202082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7F3A"/>
                </a:solidFill>
                <a:latin typeface="Arial"/>
              </a:rPr>
              <a:t>4  Reflect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599" y="392277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Explain in your own words.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4025" y="5409590"/>
            <a:ext cx="1331366" cy="3703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90057" y="5475427"/>
            <a:ext cx="460857" cy="98755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27724" y="5607100"/>
            <a:ext cx="384048" cy="822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62979" y="5376672"/>
            <a:ext cx="460857" cy="1481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74519"/>
            <a:ext cx="3154680" cy="397763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29968" y="2148840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99232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rial"/>
              </a:rPr>
              <a:t>THINK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57600"/>
            <a:ext cx="2514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rial"/>
              </a:rPr>
              <a:t>What is the most interesting thing you learned about Africa this term?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166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rial"/>
              </a:rPr>
              <a:t>30 seconds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874519"/>
            <a:ext cx="3154680" cy="397763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148840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99232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rial"/>
              </a:rPr>
              <a:t>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57600"/>
            <a:ext cx="2514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rial"/>
              </a:rPr>
              <a:t>compare your first answer with a partner.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166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rial"/>
              </a:rPr>
              <a:t>with partner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874519"/>
            <a:ext cx="3154680" cy="397763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36608" y="2148840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999232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rial"/>
              </a:rPr>
              <a:t>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657600"/>
            <a:ext cx="2514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rial"/>
              </a:rPr>
              <a:t>connect your answer to Our Term 1 SST Journey.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166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rial"/>
              </a:rPr>
              <a:t>whole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Our Term 1 SST Journey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55648"/>
            <a:ext cx="10652760" cy="44805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38100"/>
          <a:lstStyle/>
          <a:p>
            <a:pPr algn="l"/>
            <a:r>
              <a:rPr sz="1200" b="1">
                <a:solidFill>
                  <a:srgbClr val="087490"/>
                </a:solidFill>
                <a:latin typeface="Arial"/>
              </a:rPr>
              <a:t>CONTENT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286000"/>
            <a:ext cx="9372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Introduction to the final review process 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424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5623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Reviewing major themes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Celebrating our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3056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Preparing for compilation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19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5372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1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reflection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5779008"/>
            <a:ext cx="8641080" cy="0"/>
          </a:xfrm>
          <a:prstGeom prst="line">
            <a:avLst/>
          </a:prstGeom>
          <a:ln w="25400">
            <a:solidFill>
              <a:srgbClr val="08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Organizing Our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55648"/>
            <a:ext cx="10652760" cy="44805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38100"/>
          <a:lstStyle/>
          <a:p>
            <a:pPr algn="l"/>
            <a:r>
              <a:rPr sz="1200" b="1">
                <a:solidFill>
                  <a:srgbClr val="D97706"/>
                </a:solidFill>
                <a:latin typeface="Arial"/>
              </a:rPr>
              <a:t>MODEL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286000"/>
            <a:ext cx="9372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Worked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424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5623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Collecting all Term 1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Sorting by topic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3056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Checking for missing items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19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5372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1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reflection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5779008"/>
            <a:ext cx="864108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55648"/>
            <a:ext cx="10652760" cy="4480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97510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BE123C"/>
                </a:solidFill>
                <a:latin typeface="Arial"/>
              </a:rPr>
              <a:t>PRACTICE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04288"/>
            <a:ext cx="10652760" cy="822960"/>
          </a:xfrm>
          <a:prstGeom prst="roundRect">
            <a:avLst/>
          </a:prstGeom>
          <a:solidFill>
            <a:srgbClr val="FFF7E0"/>
          </a:solidFill>
          <a:ln w="1778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Answer with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401568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6424" y="3584448"/>
            <a:ext cx="420624" cy="420624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" y="3529584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Why is it important to keep our maps and projects organized?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4553712"/>
            <a:ext cx="2057400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/>
              </a:rPr>
              <a:t>answer + reason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14215" y="4251960"/>
            <a:ext cx="402337" cy="0"/>
          </a:xfrm>
          <a:prstGeom prst="line">
            <a:avLst/>
          </a:prstGeom>
          <a:ln w="25400">
            <a:solidFill>
              <a:srgbClr val="BE1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16552" y="3401568"/>
            <a:ext cx="3063240" cy="1691640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62856" y="3584448"/>
            <a:ext cx="420624" cy="420624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3529584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Do you have all four major projects?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4553712"/>
            <a:ext cx="2057400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470916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/>
              </a:rPr>
              <a:t>answer + reason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70648" y="4251960"/>
            <a:ext cx="402335" cy="0"/>
          </a:xfrm>
          <a:prstGeom prst="line">
            <a:avLst/>
          </a:prstGeom>
          <a:ln w="25400">
            <a:solidFill>
              <a:srgbClr val="BE1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72983" y="3401568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9288" y="3584448"/>
            <a:ext cx="420624" cy="420624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3529584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Which work needs to be at the very front of your pile?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75904" y="4553712"/>
            <a:ext cx="2057400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470916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/>
              </a:rPr>
              <a:t>answer + reason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07024"/>
            <a:ext cx="10287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rial"/>
              </a:rPr>
              <a:t>Use evidence from the lesson, not guessing.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55648"/>
            <a:ext cx="10652760" cy="44805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38100"/>
          <a:lstStyle/>
          <a:p>
            <a:pPr algn="l"/>
            <a:r>
              <a:rPr sz="1200" b="1">
                <a:solidFill>
                  <a:srgbClr val="1B7F3A"/>
                </a:solidFill>
                <a:latin typeface="Arial"/>
              </a:rPr>
              <a:t>GROUP INFOGRAPHIC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286000"/>
            <a:ext cx="9372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Challenge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424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5623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Participate in a whole-class discussion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Individually sort their maps and written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3056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In small groups, learners quiz each other 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19" y="3108960"/>
            <a:ext cx="192024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53728" y="3419856"/>
            <a:ext cx="1325880" cy="914400"/>
          </a:xfrm>
          <a:prstGeom prst="rect">
            <a:avLst/>
          </a:prstGeom>
          <a:solidFill>
            <a:srgbClr val="FFF7E0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1" y="4681728"/>
            <a:ext cx="15910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reflection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5779008"/>
            <a:ext cx="8641080" cy="0"/>
          </a:xfrm>
          <a:prstGeom prst="line">
            <a:avLst/>
          </a:prstGeom>
          <a:ln w="25400">
            <a:solidFill>
              <a:srgbClr val="1B7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703320" y="5650992"/>
            <a:ext cx="5440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200" y="5769864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90000"/>
                </a:solidFill>
                <a:latin typeface="Arial"/>
              </a:rPr>
              <a:t>Share-out: explain one result, then improve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565392"/>
            <a:ext cx="12027103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638544"/>
            <a:ext cx="12027103" cy="45720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783080"/>
            <a:ext cx="9921240" cy="4434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27000" bIns="38100"/>
          <a:lstStyle/>
          <a:p>
            <a:pPr algn="ctr"/>
            <a:r>
              <a:rPr sz="1500" b="1">
                <a:solidFill>
                  <a:srgbClr val="4338CA"/>
                </a:solidFill>
                <a:latin typeface="Arial"/>
              </a:rPr>
              <a:t>EXIT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87168"/>
            <a:ext cx="8823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Answer: Where will you keep this portfolio for revision?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3493008"/>
            <a:ext cx="8321040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3977639"/>
            <a:ext cx="8321040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0240" y="4462272"/>
            <a:ext cx="8321040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864608"/>
            <a:ext cx="8823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rial"/>
              </a:rPr>
              <a:t>Use one complete sentence.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84648"/>
            <a:ext cx="8823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rial"/>
              </a:rPr>
              <a:t>Hand in or read your answer aloud.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355080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P7 class flow: listen • talk • try • explain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