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987552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1.1 School Holidays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D4ED8"/>
                </a:solidFill>
                <a:latin typeface="Arial"/>
              </a:rPr>
              <a:t>OPENING VISUAL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286000"/>
            <a:ext cx="9555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Where is Nakato going?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20240" y="4681728"/>
            <a:ext cx="8366760" cy="0"/>
          </a:xfrm>
          <a:prstGeom prst="line">
            <a:avLst/>
          </a:prstGeom>
          <a:ln w="4445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847088" y="4517136"/>
            <a:ext cx="329184" cy="329184"/>
          </a:xfrm>
          <a:prstGeom prst="ellipse">
            <a:avLst/>
          </a:prstGeom>
          <a:solidFill>
            <a:srgbClr val="D90000"/>
          </a:solidFill>
          <a:ln w="889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53128" y="3831336"/>
            <a:ext cx="329184" cy="329184"/>
          </a:xfrm>
          <a:prstGeom prst="ellipse">
            <a:avLst/>
          </a:prstGeom>
          <a:solidFill>
            <a:srgbClr val="D90000"/>
          </a:solidFill>
          <a:ln w="889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04888" y="4517136"/>
            <a:ext cx="329184" cy="329184"/>
          </a:xfrm>
          <a:prstGeom prst="ellipse">
            <a:avLst/>
          </a:prstGeom>
          <a:solidFill>
            <a:srgbClr val="D90000"/>
          </a:solidFill>
          <a:ln w="889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56648" y="3922776"/>
            <a:ext cx="329184" cy="329184"/>
          </a:xfrm>
          <a:prstGeom prst="ellipse">
            <a:avLst/>
          </a:prstGeom>
          <a:solidFill>
            <a:srgbClr val="D90000"/>
          </a:solidFill>
          <a:ln w="889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298448" y="3902659"/>
            <a:ext cx="1234440" cy="339425"/>
          </a:xfrm>
          <a:prstGeom prst="roundRect">
            <a:avLst/>
          </a:prstGeom>
          <a:solidFill>
            <a:srgbClr val="FCD116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520647" y="3972885"/>
            <a:ext cx="271576" cy="105338"/>
          </a:xfrm>
          <a:prstGeom prst="rect">
            <a:avLst/>
          </a:prstGeom>
          <a:solidFill>
            <a:srgbClr val="FFFFFF"/>
          </a:solidFill>
          <a:ln w="508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90979" y="3972885"/>
            <a:ext cx="271576" cy="105338"/>
          </a:xfrm>
          <a:prstGeom prst="rect">
            <a:avLst/>
          </a:prstGeom>
          <a:solidFill>
            <a:srgbClr val="FFFFFF"/>
          </a:solidFill>
          <a:ln w="508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36622" y="3972885"/>
            <a:ext cx="172821" cy="10533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520647" y="4195267"/>
            <a:ext cx="197510" cy="117043"/>
          </a:xfrm>
          <a:prstGeom prst="ellipse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137867" y="4195267"/>
            <a:ext cx="197510" cy="117043"/>
          </a:xfrm>
          <a:prstGeom prst="ellipse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Isosceles Triangle 23"/>
          <p:cNvSpPr/>
          <p:nvPr/>
        </p:nvSpPr>
        <p:spPr>
          <a:xfrm>
            <a:off x="4114800" y="3127248"/>
            <a:ext cx="1005840" cy="404164"/>
          </a:xfrm>
          <a:prstGeom prst="triangle">
            <a:avLst/>
          </a:prstGeom>
          <a:solidFill>
            <a:srgbClr val="D90000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75734" y="3453688"/>
            <a:ext cx="683971" cy="373075"/>
          </a:xfrm>
          <a:prstGeom prst="rect">
            <a:avLst/>
          </a:prstGeom>
          <a:solidFill>
            <a:srgbClr val="FFF7E0"/>
          </a:solidFill>
          <a:ln w="889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7252" y="3578047"/>
            <a:ext cx="160934" cy="248716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202911" y="3749039"/>
            <a:ext cx="151424" cy="164592"/>
          </a:xfrm>
          <a:prstGeom prst="ellipse">
            <a:avLst/>
          </a:prstGeom>
          <a:solidFill>
            <a:srgbClr val="FCD116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173468" y="3946550"/>
            <a:ext cx="210312" cy="329184"/>
          </a:xfrm>
          <a:prstGeom prst="roundRect">
            <a:avLst/>
          </a:prstGeom>
          <a:solidFill>
            <a:srgbClr val="D90000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H="1">
            <a:off x="7186086" y="4259275"/>
            <a:ext cx="92538" cy="312725"/>
          </a:xfrm>
          <a:prstGeom prst="line">
            <a:avLst/>
          </a:prstGeom>
          <a:ln w="1270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278624" y="4259275"/>
            <a:ext cx="92537" cy="312725"/>
          </a:xfrm>
          <a:prstGeom prst="line">
            <a:avLst/>
          </a:prstGeom>
          <a:ln w="1270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235440" y="3558479"/>
            <a:ext cx="1371600" cy="329184"/>
          </a:xfrm>
          <a:prstGeom prst="roundRect">
            <a:avLst/>
          </a:prstGeom>
          <a:solidFill>
            <a:srgbClr val="DCFCE7"/>
          </a:solidFill>
          <a:ln w="1016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V="1">
            <a:off x="9482328" y="3611148"/>
            <a:ext cx="96012" cy="237012"/>
          </a:xfrm>
          <a:prstGeom prst="line">
            <a:avLst/>
          </a:prstGeom>
          <a:ln w="1270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9729216" y="3611148"/>
            <a:ext cx="96012" cy="237012"/>
          </a:xfrm>
          <a:prstGeom prst="line">
            <a:avLst/>
          </a:prstGeom>
          <a:ln w="1270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9976104" y="3611148"/>
            <a:ext cx="96012" cy="237012"/>
          </a:xfrm>
          <a:prstGeom prst="line">
            <a:avLst/>
          </a:prstGeom>
          <a:ln w="1270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0222992" y="3611148"/>
            <a:ext cx="96012" cy="237012"/>
          </a:xfrm>
          <a:prstGeom prst="line">
            <a:avLst/>
          </a:prstGeom>
          <a:ln w="1270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143000" y="5486400"/>
            <a:ext cx="17373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Think alone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49039" y="5486400"/>
            <a:ext cx="17373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Pair talk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799" y="5486400"/>
            <a:ext cx="17373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Share one idea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0" y="5486400"/>
            <a:ext cx="17373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shamba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63040" y="2852928"/>
            <a:ext cx="28803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72768" y="2990088"/>
            <a:ext cx="26609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Think alone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63440" y="2852928"/>
            <a:ext cx="28803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73168" y="2990088"/>
            <a:ext cx="26609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Pair talk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63840" y="2852928"/>
            <a:ext cx="28803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73568" y="2990088"/>
            <a:ext cx="26609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Share one idea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listen to a story and identify key plans.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Nakato’s Holiday Story, New Holiday Words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82819" y="5417820"/>
            <a:ext cx="768096" cy="378561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50915" y="5417820"/>
            <a:ext cx="768096" cy="378561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90057" y="5376672"/>
            <a:ext cx="947318" cy="49377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36438" y="5524804"/>
            <a:ext cx="1228953" cy="2057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36438" y="5623560"/>
            <a:ext cx="1228953" cy="2057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36438" y="5722315"/>
            <a:ext cx="1228953" cy="2057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Where is Nakato going?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Nakato’s Holiday Story.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Nakato’s Holiday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087490"/>
                </a:solidFill>
                <a:latin typeface="Arial"/>
              </a:rPr>
              <a:t>CONTENT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286000"/>
            <a:ext cx="9555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Listen for Nakato’s trip to her grandmother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20240" y="4681728"/>
            <a:ext cx="8366760" cy="0"/>
          </a:xfrm>
          <a:prstGeom prst="line">
            <a:avLst/>
          </a:prstGeom>
          <a:ln w="44450">
            <a:solidFill>
              <a:srgbClr val="08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847088" y="4517136"/>
            <a:ext cx="329184" cy="329184"/>
          </a:xfrm>
          <a:prstGeom prst="ellipse">
            <a:avLst/>
          </a:prstGeom>
          <a:solidFill>
            <a:srgbClr val="D90000"/>
          </a:solidFill>
          <a:ln w="889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53128" y="3831336"/>
            <a:ext cx="329184" cy="329184"/>
          </a:xfrm>
          <a:prstGeom prst="ellipse">
            <a:avLst/>
          </a:prstGeom>
          <a:solidFill>
            <a:srgbClr val="D90000"/>
          </a:solidFill>
          <a:ln w="889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04888" y="4517136"/>
            <a:ext cx="329184" cy="329184"/>
          </a:xfrm>
          <a:prstGeom prst="ellipse">
            <a:avLst/>
          </a:prstGeom>
          <a:solidFill>
            <a:srgbClr val="D90000"/>
          </a:solidFill>
          <a:ln w="889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56648" y="3922776"/>
            <a:ext cx="329184" cy="329184"/>
          </a:xfrm>
          <a:prstGeom prst="ellipse">
            <a:avLst/>
          </a:prstGeom>
          <a:solidFill>
            <a:srgbClr val="D90000"/>
          </a:solidFill>
          <a:ln w="889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298448" y="3902659"/>
            <a:ext cx="1234440" cy="339425"/>
          </a:xfrm>
          <a:prstGeom prst="roundRect">
            <a:avLst/>
          </a:prstGeom>
          <a:solidFill>
            <a:srgbClr val="FCD116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520647" y="3972885"/>
            <a:ext cx="271576" cy="105338"/>
          </a:xfrm>
          <a:prstGeom prst="rect">
            <a:avLst/>
          </a:prstGeom>
          <a:solidFill>
            <a:srgbClr val="FFFFFF"/>
          </a:solidFill>
          <a:ln w="508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90979" y="3972885"/>
            <a:ext cx="271576" cy="105338"/>
          </a:xfrm>
          <a:prstGeom prst="rect">
            <a:avLst/>
          </a:prstGeom>
          <a:solidFill>
            <a:srgbClr val="FFFFFF"/>
          </a:solidFill>
          <a:ln w="508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36622" y="3972885"/>
            <a:ext cx="172821" cy="10533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520647" y="4195267"/>
            <a:ext cx="197510" cy="117043"/>
          </a:xfrm>
          <a:prstGeom prst="ellipse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137867" y="4195267"/>
            <a:ext cx="197510" cy="117043"/>
          </a:xfrm>
          <a:prstGeom prst="ellipse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Isosceles Triangle 23"/>
          <p:cNvSpPr/>
          <p:nvPr/>
        </p:nvSpPr>
        <p:spPr>
          <a:xfrm>
            <a:off x="4114800" y="3127248"/>
            <a:ext cx="1005840" cy="404164"/>
          </a:xfrm>
          <a:prstGeom prst="triangle">
            <a:avLst/>
          </a:prstGeom>
          <a:solidFill>
            <a:srgbClr val="D90000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75734" y="3453688"/>
            <a:ext cx="683971" cy="373075"/>
          </a:xfrm>
          <a:prstGeom prst="rect">
            <a:avLst/>
          </a:prstGeom>
          <a:solidFill>
            <a:srgbClr val="FFF7E0"/>
          </a:solidFill>
          <a:ln w="889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7252" y="3578047"/>
            <a:ext cx="160934" cy="248716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202911" y="3749039"/>
            <a:ext cx="151424" cy="164592"/>
          </a:xfrm>
          <a:prstGeom prst="ellipse">
            <a:avLst/>
          </a:prstGeom>
          <a:solidFill>
            <a:srgbClr val="FCD116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173468" y="3946550"/>
            <a:ext cx="210312" cy="329184"/>
          </a:xfrm>
          <a:prstGeom prst="roundRect">
            <a:avLst/>
          </a:prstGeom>
          <a:solidFill>
            <a:srgbClr val="D90000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H="1">
            <a:off x="7186086" y="4259275"/>
            <a:ext cx="92538" cy="312725"/>
          </a:xfrm>
          <a:prstGeom prst="line">
            <a:avLst/>
          </a:prstGeom>
          <a:ln w="1270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278624" y="4259275"/>
            <a:ext cx="92537" cy="312725"/>
          </a:xfrm>
          <a:prstGeom prst="line">
            <a:avLst/>
          </a:prstGeom>
          <a:ln w="1270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235440" y="3558479"/>
            <a:ext cx="1371600" cy="329184"/>
          </a:xfrm>
          <a:prstGeom prst="roundRect">
            <a:avLst/>
          </a:prstGeom>
          <a:solidFill>
            <a:srgbClr val="DCFCE7"/>
          </a:solidFill>
          <a:ln w="1016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V="1">
            <a:off x="9482328" y="3611148"/>
            <a:ext cx="96012" cy="237012"/>
          </a:xfrm>
          <a:prstGeom prst="line">
            <a:avLst/>
          </a:prstGeom>
          <a:ln w="1270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9729216" y="3611148"/>
            <a:ext cx="96012" cy="237012"/>
          </a:xfrm>
          <a:prstGeom prst="line">
            <a:avLst/>
          </a:prstGeom>
          <a:ln w="1270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9976104" y="3611148"/>
            <a:ext cx="96012" cy="237012"/>
          </a:xfrm>
          <a:prstGeom prst="line">
            <a:avLst/>
          </a:prstGeom>
          <a:ln w="1270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0222992" y="3611148"/>
            <a:ext cx="96012" cy="237012"/>
          </a:xfrm>
          <a:prstGeom prst="line">
            <a:avLst/>
          </a:prstGeom>
          <a:ln w="1270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143000" y="5486400"/>
            <a:ext cx="17373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Listen to the story carefully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49039" y="5486400"/>
            <a:ext cx="17373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Identify the characters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799" y="5486400"/>
            <a:ext cx="17373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List the places Nakato plans to visit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0" y="5486400"/>
            <a:ext cx="17373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shamba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63040" y="2852928"/>
            <a:ext cx="28803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72768" y="2990088"/>
            <a:ext cx="26609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Listen to the story carefully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63440" y="2852928"/>
            <a:ext cx="28803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73168" y="2990088"/>
            <a:ext cx="26609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Identify the characters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63840" y="2852928"/>
            <a:ext cx="28803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73568" y="2990088"/>
            <a:ext cx="26609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List the places Nakato plans to visit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New Holiday Words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D97706"/>
                </a:solidFill>
                <a:latin typeface="Arial"/>
              </a:rPr>
              <a:t>MODEL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Holiday word workbench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19" y="3172968"/>
            <a:ext cx="2057400" cy="2057400"/>
          </a:xfrm>
          <a:prstGeom prst="roundRect">
            <a:avLst/>
          </a:prstGeom>
          <a:solidFill>
            <a:srgbClr val="FFF7E0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45919" y="3172968"/>
            <a:ext cx="2057400" cy="237744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799" y="3749039"/>
            <a:ext cx="16916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11827"/>
                </a:solidFill>
                <a:latin typeface="Arial"/>
              </a:rPr>
              <a:t>Travel: To go from one place to another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799" y="4608576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Arial"/>
              </a:rPr>
              <a:t>say → use → write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69079" y="3172968"/>
            <a:ext cx="2057400" cy="20574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9079" y="3172968"/>
            <a:ext cx="2057400" cy="23774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1959" y="3749039"/>
            <a:ext cx="16916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11827"/>
                </a:solidFill>
                <a:latin typeface="Arial"/>
              </a:rPr>
              <a:t>Up-country: Rural areas/the village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59" y="4608576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Arial"/>
              </a:rPr>
              <a:t>say → use → write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3172968"/>
            <a:ext cx="2057400" cy="2057400"/>
          </a:xfrm>
          <a:prstGeom prst="roundRect">
            <a:avLst/>
          </a:prstGeom>
          <a:solidFill>
            <a:srgbClr val="FFF7E0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92240" y="3172968"/>
            <a:ext cx="2057400" cy="23774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3749039"/>
            <a:ext cx="16916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11827"/>
                </a:solidFill>
                <a:latin typeface="Arial"/>
              </a:rPr>
              <a:t>Relatives: Family members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608576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Arial"/>
              </a:rPr>
              <a:t>say → use → write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49240" y="5682081"/>
            <a:ext cx="1463040" cy="381853"/>
          </a:xfrm>
          <a:prstGeom prst="roundRect">
            <a:avLst/>
          </a:prstGeom>
          <a:solidFill>
            <a:srgbClr val="FCD116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12587" y="5761085"/>
            <a:ext cx="321868" cy="118506"/>
          </a:xfrm>
          <a:prstGeom prst="rect">
            <a:avLst/>
          </a:prstGeom>
          <a:solidFill>
            <a:srgbClr val="FFFFFF"/>
          </a:solidFill>
          <a:ln w="508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51499" y="5761085"/>
            <a:ext cx="321868" cy="118506"/>
          </a:xfrm>
          <a:prstGeom prst="rect">
            <a:avLst/>
          </a:prstGeom>
          <a:solidFill>
            <a:srgbClr val="FFFFFF"/>
          </a:solidFill>
          <a:ln w="508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61150" y="5761085"/>
            <a:ext cx="204825" cy="11850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12587" y="6011265"/>
            <a:ext cx="234086" cy="131673"/>
          </a:xfrm>
          <a:prstGeom prst="ellipse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44107" y="6011265"/>
            <a:ext cx="234086" cy="131673"/>
          </a:xfrm>
          <a:prstGeom prst="ellipse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975104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E123C"/>
                </a:solidFill>
                <a:latin typeface="Arial"/>
              </a:rPr>
              <a:t>PRACTICE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30428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6424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5064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What will she do in the village?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14215" y="4251960"/>
            <a:ext cx="402337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16552" y="3401568"/>
            <a:ext cx="3063240" cy="169164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62856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Who is she going to visit?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70648" y="4251960"/>
            <a:ext cx="402335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872983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9288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What is another word for 'start'?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75904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5904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907024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evidence from the lesson, not guessing.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B7F3A"/>
                </a:solidFill>
                <a:latin typeface="Arial"/>
              </a:rPr>
              <a:t>GROUP INFOGRAPHIC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04288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Three classroom stations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1640" y="3108960"/>
            <a:ext cx="2651760" cy="26974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79192" y="3383280"/>
            <a:ext cx="658368" cy="658368"/>
          </a:xfrm>
          <a:prstGeom prst="ellipse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58568" y="4178808"/>
            <a:ext cx="804672" cy="475488"/>
          </a:xfrm>
          <a:prstGeom prst="roundRect">
            <a:avLst/>
          </a:prstGeom>
          <a:solidFill>
            <a:srgbClr val="FFF7E0"/>
          </a:solidFill>
          <a:ln w="1016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990088" y="4343400"/>
            <a:ext cx="804672" cy="4754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20240" y="515721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B7F3A"/>
                </a:solidFill>
                <a:latin typeface="Arial"/>
              </a:rPr>
              <a:t>1 Listen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541324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Listen to the story; whisper two Nakato plans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0" y="3108960"/>
            <a:ext cx="2651760" cy="26974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25312" y="3383280"/>
            <a:ext cx="658368" cy="658368"/>
          </a:xfrm>
          <a:prstGeom prst="ellipse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96128" y="4151376"/>
            <a:ext cx="636422" cy="804672"/>
          </a:xfrm>
          <a:prstGeom prst="rect">
            <a:avLst/>
          </a:prstGeom>
          <a:solidFill>
            <a:srgbClr val="FFFFFF"/>
          </a:solidFill>
          <a:ln w="1016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5585" y="4151376"/>
            <a:ext cx="636422" cy="804672"/>
          </a:xfrm>
          <a:prstGeom prst="rect">
            <a:avLst/>
          </a:prstGeom>
          <a:solidFill>
            <a:srgbClr val="FFFFFF"/>
          </a:solidFill>
          <a:ln w="1016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768492" y="4352544"/>
            <a:ext cx="981151" cy="201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68492" y="4537618"/>
            <a:ext cx="981151" cy="201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68492" y="4714646"/>
            <a:ext cx="981151" cy="201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66360" y="515721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B7F3A"/>
                </a:solidFill>
                <a:latin typeface="Arial"/>
              </a:rPr>
              <a:t>2 Copy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6360" y="541324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Copy the words and definitions neatly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79" y="3108960"/>
            <a:ext cx="2651760" cy="26974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71432" y="3383280"/>
            <a:ext cx="658368" cy="658368"/>
          </a:xfrm>
          <a:prstGeom prst="ellipse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14232" y="4151376"/>
            <a:ext cx="633679" cy="498896"/>
          </a:xfrm>
          <a:prstGeom prst="roundRect">
            <a:avLst/>
          </a:prstGeom>
          <a:solidFill>
            <a:srgbClr val="FFF7E0"/>
          </a:solidFill>
          <a:ln w="1016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589312" y="4151376"/>
            <a:ext cx="633679" cy="498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9347911" y="4408871"/>
            <a:ext cx="241401" cy="0"/>
          </a:xfrm>
          <a:prstGeom prst="line">
            <a:avLst/>
          </a:prstGeom>
          <a:ln w="1524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804757" y="4304263"/>
            <a:ext cx="452627" cy="1287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11827"/>
                </a:solidFill>
                <a:latin typeface="Arial"/>
              </a:rPr>
              <a:t>He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9663" y="4304263"/>
            <a:ext cx="512978" cy="1287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11827"/>
                </a:solidFill>
                <a:latin typeface="Arial"/>
              </a:rPr>
              <a:t>They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515721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B7F3A"/>
                </a:solidFill>
                <a:latin typeface="Arial"/>
              </a:rPr>
              <a:t>3 Drill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541324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Repeat together, then do a pronoun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703320" y="5650992"/>
            <a:ext cx="5440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86200" y="5769864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0000"/>
                </a:solidFill>
                <a:latin typeface="Arial"/>
              </a:rPr>
              <a:t>Share-out: explain one result, then improve it.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Where will you be in three weeks?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key word: Listening for detail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50468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0000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