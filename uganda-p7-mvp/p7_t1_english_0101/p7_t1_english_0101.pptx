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024128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1.1 School Holidays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3794760" cy="4343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52400" bIns="38100"/>
          <a:lstStyle/>
          <a:p>
            <a:pPr algn="ctr"/>
            <a:r>
              <a:rPr sz="1800" b="1">
                <a:solidFill>
                  <a:srgbClr val="1D4ED8"/>
                </a:solidFill>
                <a:latin typeface="Arial"/>
              </a:rPr>
              <a:t>English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33118" y="3115818"/>
            <a:ext cx="918971" cy="1156716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52090" y="3115818"/>
            <a:ext cx="918971" cy="1156716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00707" y="2990088"/>
            <a:ext cx="1133398" cy="150875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16912" y="3442716"/>
            <a:ext cx="1470355" cy="6286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16912" y="3744468"/>
            <a:ext cx="1470355" cy="6286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16912" y="4046220"/>
            <a:ext cx="1470355" cy="6286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45736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English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50468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Look • wonder • predict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965960"/>
            <a:ext cx="6355080" cy="3520440"/>
          </a:xfrm>
          <a:prstGeom prst="roundRect">
            <a:avLst/>
          </a:prstGeom>
          <a:solidFill>
            <a:srgbClr val="FFF7E0"/>
          </a:solidFill>
          <a:ln w="2032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57800" y="2267712"/>
            <a:ext cx="5623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Arial"/>
              </a:rPr>
              <a:t>OPENING QUESTION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5232" y="2788920"/>
            <a:ext cx="557784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11827"/>
                </a:solidFill>
                <a:latin typeface="Arial"/>
              </a:rPr>
              <a:t>Big question: Where is Nakato going?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4315968"/>
            <a:ext cx="5577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475569"/>
                </a:solidFill>
                <a:latin typeface="Arial"/>
              </a:rPr>
              <a:t>First think alone. Then tell a partner one possible answer.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listen to a story and identify key plans.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Nakato’s Holiday Story, New Holiday Words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82819" y="5417820"/>
            <a:ext cx="768096" cy="378561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50915" y="5417820"/>
            <a:ext cx="768096" cy="378561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90057" y="5376672"/>
            <a:ext cx="947318" cy="49377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36438" y="5524804"/>
            <a:ext cx="1228953" cy="2057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36438" y="5623560"/>
            <a:ext cx="1228953" cy="2057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36438" y="5722315"/>
            <a:ext cx="1228953" cy="2057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Where is Nakato going?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Nakato’s Holiday Story.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Nakato’s Holiday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828800"/>
            <a:ext cx="3337560" cy="4160520"/>
          </a:xfrm>
          <a:prstGeom prst="roundRect">
            <a:avLst/>
          </a:prstGeom>
          <a:solidFill>
            <a:srgbClr val="FFF7E0"/>
          </a:solidFill>
          <a:ln w="1905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28876" y="2754630"/>
            <a:ext cx="809244" cy="946404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38120" y="2754630"/>
            <a:ext cx="809244" cy="946404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52574" y="2651760"/>
            <a:ext cx="998067" cy="123444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90725" y="3022092"/>
            <a:ext cx="1294790" cy="5143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90725" y="3268980"/>
            <a:ext cx="1294790" cy="5143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90725" y="3515868"/>
            <a:ext cx="1294790" cy="5143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041648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English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617720"/>
            <a:ext cx="29077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87490"/>
                </a:solidFill>
                <a:latin typeface="Arial"/>
              </a:rPr>
              <a:t>KEY IDEA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91947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Arial"/>
              </a:rPr>
              <a:t>Key idea: Listen for Nakato’s trip to her grandmother up-country.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1874519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0" y="1874519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2221991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58384" y="203911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Listen to the story carefully.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3108960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0" y="3108960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45643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8384" y="327355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Identify the characters.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4343400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0" y="4343400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69087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58384" y="450799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List the places Nakato plans to visit.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New Holiday Words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28800"/>
            <a:ext cx="7360920" cy="4251960"/>
          </a:xfrm>
          <a:prstGeom prst="roundRect">
            <a:avLst/>
          </a:prstGeom>
          <a:solidFill>
            <a:srgbClr val="1F2937"/>
          </a:solidFill>
          <a:ln w="1905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84831"/>
            <a:ext cx="6812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CD116"/>
                </a:solidFill>
                <a:latin typeface="Arial"/>
              </a:rPr>
              <a:t>BOARD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78608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1. Travel: To go from one place to another.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54679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2. Up-country: Rural areas/the village.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730752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3. Relatives: Family members.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1828800"/>
            <a:ext cx="2697480" cy="4251960"/>
          </a:xfrm>
          <a:prstGeom prst="roundRect">
            <a:avLst/>
          </a:prstGeom>
          <a:solidFill>
            <a:srgbClr val="FFF7E0"/>
          </a:solidFill>
          <a:ln w="1651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61043" y="2754629"/>
            <a:ext cx="562355" cy="778154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823399" y="2754629"/>
            <a:ext cx="562355" cy="778154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85985" y="2670048"/>
            <a:ext cx="693572" cy="10149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73514" y="2974543"/>
            <a:ext cx="899769" cy="42291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73514" y="3177539"/>
            <a:ext cx="899769" cy="42291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73514" y="3380536"/>
            <a:ext cx="899769" cy="42291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0" y="3767328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English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4526280"/>
            <a:ext cx="2057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Teacher models first. Learners copy the pattern, then explain the step.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19072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743200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2898648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889504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What will she do in the village?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3264408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3822191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8992" y="3977639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3968496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Who is she going to visit?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4343400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4901183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" y="5056631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19072" y="5047488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What is another word for 'start'?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35240" y="5422392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989320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the source idea, not guessing.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3063240" cy="434340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16075" y="2583180"/>
            <a:ext cx="699515" cy="799185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15591" y="2583180"/>
            <a:ext cx="699515" cy="799185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95881" y="2496312"/>
            <a:ext cx="862736" cy="104241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55978" y="2809036"/>
            <a:ext cx="1119225" cy="4343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55978" y="3017520"/>
            <a:ext cx="1119225" cy="4343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55978" y="3226003"/>
            <a:ext cx="1119225" cy="4343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63016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English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315968"/>
            <a:ext cx="2697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B7F3A"/>
                </a:solidFill>
                <a:latin typeface="Arial"/>
              </a:rPr>
              <a:t>GROUP CHALLENGE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5488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Arial"/>
              </a:rPr>
              <a:t>Produce one answer the class can check.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828800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1828800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2144268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9784" y="1993392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Arial"/>
              </a:rPr>
              <a:t>Listen to the story; whisper two Nakato plans.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2999232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43400" y="2999232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33147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9784" y="3163824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Copy the words and definitions neatly.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4169664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43400" y="4169664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3400" y="448513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9784" y="4334256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Arial"/>
              </a:rPr>
              <a:t>Repeat together, then do a pronoun substitution drill.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5413248"/>
            <a:ext cx="690372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5577840"/>
            <a:ext cx="6446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90000"/>
                </a:solidFill>
                <a:latin typeface="Arial"/>
              </a:rPr>
              <a:t>Class share-out: one group explains, one group improves 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Where will you be in three weeks?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key word: Listening for detail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50468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0000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