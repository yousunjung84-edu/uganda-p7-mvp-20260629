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/>
              <a:t>3.4 Final Review and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0"/>
            <a:ext cx="9326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/>
              <a:t>English</a:t>
            </a:r>
          </a:p>
          <a:p>
            <a:pPr algn="ctr"/>
            <a:r>
              <a:rPr sz="2200"/>
              <a:t>The learner reflects on personal progress in English during Term 1 and identifies</a:t>
            </a:r>
          </a:p>
          <a:p>
            <a:pPr algn="ctr"/>
            <a:r>
              <a:rPr sz="2200"/>
              <a:t>areas of strength.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Learning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The learner reflects on personal progress in English during Term 1 and identifies</a:t>
            </a:r>
          </a:p>
          <a:p>
            <a:pPr>
              <a:spcAft>
                <a:spcPts val="800"/>
              </a:spcAft>
              <a:defRPr sz="2200"/>
            </a:pPr>
            <a:r>
              <a:t>areas of strength.</a:t>
            </a:r>
          </a:p>
          <a:p>
            <a:pPr>
              <a:spcAft>
                <a:spcPts val="800"/>
              </a:spcAft>
              <a:defRPr sz="2200"/>
            </a:pPr>
            <a:r>
              <a:t>Lesson focus: 3.4 Final Review and Assessment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Looking Back at Term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Review the topics we covered</a:t>
            </a:r>
          </a:p>
          <a:p>
            <a:pPr>
              <a:spcAft>
                <a:spcPts val="800"/>
              </a:spcAft>
              <a:defRPr sz="2200"/>
            </a:pPr>
            <a:r>
              <a:t>Share our favorite English activities</a:t>
            </a:r>
          </a:p>
          <a:p>
            <a:pPr>
              <a:spcAft>
                <a:spcPts val="800"/>
              </a:spcAft>
              <a:defRPr sz="2200"/>
            </a:pPr>
            <a:r>
              <a:t>Discuss how our writing has improved</a:t>
            </a:r>
          </a:p>
          <a:p>
            <a:pPr>
              <a:spcAft>
                <a:spcPts val="800"/>
              </a:spcAft>
              <a:defRPr sz="2200"/>
            </a:pPr>
            <a:r>
              <a:t>Prepare for our final portfolio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What is a Portfolio?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 collection of your best work</a:t>
            </a:r>
          </a:p>
          <a:p>
            <a:pPr>
              <a:spcAft>
                <a:spcPts val="800"/>
              </a:spcAft>
              <a:defRPr sz="2200"/>
            </a:pPr>
            <a:r>
              <a:t>Evidence of your learning</a:t>
            </a:r>
          </a:p>
          <a:p>
            <a:pPr>
              <a:spcAft>
                <a:spcPts val="800"/>
              </a:spcAft>
              <a:defRPr sz="2200"/>
            </a:pPr>
            <a:r>
              <a:t>Criteria for selection: Neatness, Accuracy, Interest</a:t>
            </a:r>
          </a:p>
          <a:p>
            <a:pPr>
              <a:spcAft>
                <a:spcPts val="800"/>
              </a:spcAft>
              <a:defRPr sz="2200"/>
            </a:pPr>
            <a:r>
              <a:t>Organized from start to finish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Selecting Your Best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Read your compositions from Week 1 to Week 11</a:t>
            </a:r>
          </a:p>
          <a:p>
            <a:pPr>
              <a:spcAft>
                <a:spcPts val="800"/>
              </a:spcAft>
              <a:defRPr sz="2200"/>
            </a:pPr>
            <a:r>
              <a:t>Compare your early work to your recent work</a:t>
            </a:r>
          </a:p>
          <a:p>
            <a:pPr>
              <a:spcAft>
                <a:spcPts val="800"/>
              </a:spcAft>
              <a:defRPr sz="2200"/>
            </a:pPr>
            <a:r>
              <a:t>Check for teacher's comments and marks</a:t>
            </a:r>
          </a:p>
          <a:p>
            <a:pPr>
              <a:spcAft>
                <a:spcPts val="800"/>
              </a:spcAft>
              <a:defRPr sz="2200"/>
            </a:pPr>
            <a:r>
              <a:t>Pick 3 pieces that show your best English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Creating the Portfolio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Title Page: Name, Class, Subject, Term</a:t>
            </a:r>
          </a:p>
          <a:p>
            <a:pPr>
              <a:spcAft>
                <a:spcPts val="800"/>
              </a:spcAft>
              <a:defRPr sz="2200"/>
            </a:pPr>
            <a:r>
              <a:t>Table of Contents: List of selected work</a:t>
            </a:r>
          </a:p>
          <a:p>
            <a:pPr>
              <a:spcAft>
                <a:spcPts val="800"/>
              </a:spcAft>
              <a:defRPr sz="2200"/>
            </a:pPr>
            <a:r>
              <a:t>Introduction: A short sentence about the portfolio</a:t>
            </a:r>
          </a:p>
          <a:p>
            <a:pPr>
              <a:spcAft>
                <a:spcPts val="800"/>
              </a:spcAft>
              <a:defRPr sz="2200"/>
            </a:pPr>
            <a:r>
              <a:t>Order: Chronological or by topic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Share Your Success!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Present your portfolio to your group</a:t>
            </a:r>
          </a:p>
          <a:p>
            <a:pPr>
              <a:spcAft>
                <a:spcPts val="800"/>
              </a:spcAft>
              <a:defRPr sz="2200"/>
            </a:pPr>
            <a:r>
              <a:t>Explain why you chose these pieces</a:t>
            </a:r>
          </a:p>
          <a:p>
            <a:pPr>
              <a:spcAft>
                <a:spcPts val="800"/>
              </a:spcAft>
              <a:defRPr sz="2200"/>
            </a:pPr>
            <a:r>
              <a:t>Listen to your friends' work</a:t>
            </a:r>
          </a:p>
          <a:p>
            <a:pPr>
              <a:spcAft>
                <a:spcPts val="800"/>
              </a:spcAft>
              <a:defRPr sz="2200"/>
            </a:pPr>
            <a:r>
              <a:t>Give positive feedback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Which activity helped you improve your English most?</a:t>
            </a:r>
          </a:p>
          <a:p>
            <a:pPr>
              <a:spcAft>
                <a:spcPts val="800"/>
              </a:spcAft>
              <a:defRPr sz="2200"/>
            </a:pPr>
            <a:r>
              <a:t>Why is it important to review our work?</a:t>
            </a:r>
          </a:p>
          <a:p>
            <a:pPr>
              <a:spcAft>
                <a:spcPts val="800"/>
              </a:spcAft>
              <a:defRPr sz="2200"/>
            </a:pPr>
            <a:r>
              <a:t>What is a portfolio?</a:t>
            </a:r>
          </a:p>
          <a:p>
            <a:pPr>
              <a:spcAft>
                <a:spcPts val="800"/>
              </a:spcAft>
              <a:defRPr sz="2200"/>
            </a:pPr>
            <a:r>
              <a:t>What does 'criteria' mean?</a:t>
            </a:r>
          </a:p>
          <a:p>
            <a:pPr>
              <a:spcAft>
                <a:spcPts val="800"/>
              </a:spcAft>
              <a:defRPr sz="2200"/>
            </a:pPr>
            <a:r>
              <a:t>Write one answer clearly in your notebook.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